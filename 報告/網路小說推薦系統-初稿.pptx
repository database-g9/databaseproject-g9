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8288000" cy="10287000"/>
  <p:notesSz cx="6858000" cy="9144000"/>
  <p:embeddedFontLst>
    <p:embeddedFont>
      <p:font typeface="Red Hat Display" panose="02020500000000000000" charset="0"/>
      <p:regular r:id="rId49"/>
    </p:embeddedFont>
    <p:embeddedFont>
      <p:font typeface="Red Hat Display Bold" panose="02020500000000000000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6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6.svg"/><Relationship Id="rId5" Type="http://schemas.openxmlformats.org/officeDocument/2006/relationships/image" Target="../media/image6.sv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svg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sv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0.svg"/><Relationship Id="rId10" Type="http://schemas.openxmlformats.org/officeDocument/2006/relationships/image" Target="../media/image22.svg"/><Relationship Id="rId4" Type="http://schemas.openxmlformats.org/officeDocument/2006/relationships/image" Target="../media/image9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9.png"/><Relationship Id="rId5" Type="http://schemas.openxmlformats.org/officeDocument/2006/relationships/image" Target="../media/image10.sv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svg"/><Relationship Id="rId7" Type="http://schemas.openxmlformats.org/officeDocument/2006/relationships/image" Target="../media/image2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7.png"/><Relationship Id="rId5" Type="http://schemas.openxmlformats.org/officeDocument/2006/relationships/image" Target="../media/image10.svg"/><Relationship Id="rId10" Type="http://schemas.openxmlformats.org/officeDocument/2006/relationships/image" Target="../media/image32.png"/><Relationship Id="rId4" Type="http://schemas.openxmlformats.org/officeDocument/2006/relationships/image" Target="../media/image9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4.png"/><Relationship Id="rId5" Type="http://schemas.openxmlformats.org/officeDocument/2006/relationships/image" Target="../media/image6.svg"/><Relationship Id="rId1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6.svg"/><Relationship Id="rId10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8.png"/><Relationship Id="rId5" Type="http://schemas.openxmlformats.org/officeDocument/2006/relationships/image" Target="../media/image6.sv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0.png"/><Relationship Id="rId5" Type="http://schemas.openxmlformats.org/officeDocument/2006/relationships/image" Target="../media/image6.svg"/><Relationship Id="rId10" Type="http://schemas.openxmlformats.org/officeDocument/2006/relationships/image" Target="../media/image39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4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4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6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4.png"/><Relationship Id="rId5" Type="http://schemas.openxmlformats.org/officeDocument/2006/relationships/image" Target="../media/image6.sv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4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9.png"/><Relationship Id="rId5" Type="http://schemas.openxmlformats.org/officeDocument/2006/relationships/image" Target="../media/image6.svg"/><Relationship Id="rId10" Type="http://schemas.openxmlformats.org/officeDocument/2006/relationships/image" Target="../media/image48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1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0.png"/><Relationship Id="rId5" Type="http://schemas.openxmlformats.org/officeDocument/2006/relationships/image" Target="../media/image6.svg"/><Relationship Id="rId15" Type="http://schemas.openxmlformats.org/officeDocument/2006/relationships/image" Target="../media/image53.png"/><Relationship Id="rId10" Type="http://schemas.openxmlformats.org/officeDocument/2006/relationships/oleObject" Target="../embeddings/oleObject2.bin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4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hyperlink" Target="https://drive.google.com/file/d/16g_-BDxb69mNJb_FWWzcmkXYvZ6Mly6K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5.png"/><Relationship Id="rId5" Type="http://schemas.openxmlformats.org/officeDocument/2006/relationships/image" Target="../media/image6.svg"/><Relationship Id="rId10" Type="http://schemas.openxmlformats.org/officeDocument/2006/relationships/image" Target="../media/image4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9.png"/><Relationship Id="rId5" Type="http://schemas.openxmlformats.org/officeDocument/2006/relationships/image" Target="../media/image6.svg"/><Relationship Id="rId10" Type="http://schemas.openxmlformats.org/officeDocument/2006/relationships/image" Target="../media/image58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1.png"/><Relationship Id="rId5" Type="http://schemas.openxmlformats.org/officeDocument/2006/relationships/image" Target="../media/image6.svg"/><Relationship Id="rId10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3.png"/><Relationship Id="rId5" Type="http://schemas.openxmlformats.org/officeDocument/2006/relationships/image" Target="../media/image6.svg"/><Relationship Id="rId10" Type="http://schemas.openxmlformats.org/officeDocument/2006/relationships/image" Target="../media/image6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64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6.png"/><Relationship Id="rId5" Type="http://schemas.openxmlformats.org/officeDocument/2006/relationships/image" Target="../media/image6.svg"/><Relationship Id="rId10" Type="http://schemas.openxmlformats.org/officeDocument/2006/relationships/image" Target="../media/image65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8.png"/><Relationship Id="rId5" Type="http://schemas.openxmlformats.org/officeDocument/2006/relationships/image" Target="../media/image6.svg"/><Relationship Id="rId10" Type="http://schemas.openxmlformats.org/officeDocument/2006/relationships/image" Target="../media/image6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0.png"/><Relationship Id="rId5" Type="http://schemas.openxmlformats.org/officeDocument/2006/relationships/image" Target="../media/image6.svg"/><Relationship Id="rId10" Type="http://schemas.openxmlformats.org/officeDocument/2006/relationships/image" Target="../media/image69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3.png"/><Relationship Id="rId5" Type="http://schemas.openxmlformats.org/officeDocument/2006/relationships/image" Target="../media/image6.svg"/><Relationship Id="rId10" Type="http://schemas.openxmlformats.org/officeDocument/2006/relationships/image" Target="../media/image7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5.png"/><Relationship Id="rId5" Type="http://schemas.openxmlformats.org/officeDocument/2006/relationships/image" Target="../media/image6.svg"/><Relationship Id="rId10" Type="http://schemas.openxmlformats.org/officeDocument/2006/relationships/image" Target="../media/image74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7.png"/><Relationship Id="rId5" Type="http://schemas.openxmlformats.org/officeDocument/2006/relationships/image" Target="../media/image6.svg"/><Relationship Id="rId10" Type="http://schemas.openxmlformats.org/officeDocument/2006/relationships/image" Target="../media/image7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1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79.png"/><Relationship Id="rId5" Type="http://schemas.openxmlformats.org/officeDocument/2006/relationships/image" Target="../media/image6.svg"/><Relationship Id="rId10" Type="http://schemas.openxmlformats.org/officeDocument/2006/relationships/image" Target="../media/image78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8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3.png"/><Relationship Id="rId5" Type="http://schemas.openxmlformats.org/officeDocument/2006/relationships/image" Target="../media/image6.svg"/><Relationship Id="rId10" Type="http://schemas.openxmlformats.org/officeDocument/2006/relationships/image" Target="../media/image8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85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87.png"/><Relationship Id="rId5" Type="http://schemas.openxmlformats.org/officeDocument/2006/relationships/image" Target="../media/image6.svg"/><Relationship Id="rId10" Type="http://schemas.openxmlformats.org/officeDocument/2006/relationships/image" Target="../media/image8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0.png"/><Relationship Id="rId5" Type="http://schemas.openxmlformats.org/officeDocument/2006/relationships/image" Target="../media/image6.svg"/><Relationship Id="rId10" Type="http://schemas.openxmlformats.org/officeDocument/2006/relationships/image" Target="../media/image89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2.png"/><Relationship Id="rId5" Type="http://schemas.openxmlformats.org/officeDocument/2006/relationships/image" Target="../media/image6.svg"/><Relationship Id="rId10" Type="http://schemas.openxmlformats.org/officeDocument/2006/relationships/image" Target="../media/image9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3.png"/><Relationship Id="rId5" Type="http://schemas.openxmlformats.org/officeDocument/2006/relationships/image" Target="../media/image6.svg"/><Relationship Id="rId10" Type="http://schemas.openxmlformats.org/officeDocument/2006/relationships/package" Target="../embeddings/Microsoft_Excel_Worksheet.xlsx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hyperlink" Target="https://zhuanlan.zhihu.com/p/489861857" TargetMode="External"/><Relationship Id="rId5" Type="http://schemas.openxmlformats.org/officeDocument/2006/relationships/image" Target="../media/image6.svg"/><Relationship Id="rId10" Type="http://schemas.openxmlformats.org/officeDocument/2006/relationships/hyperlink" Target="https://mojoin.com/novels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0629" y="-209501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9868185" y="2136222"/>
            <a:ext cx="6925852" cy="6014556"/>
          </a:xfrm>
          <a:custGeom>
            <a:avLst/>
            <a:gdLst/>
            <a:ahLst/>
            <a:cxnLst/>
            <a:rect l="l" t="t" r="r" b="b"/>
            <a:pathLst>
              <a:path w="6925852" h="6014556">
                <a:moveTo>
                  <a:pt x="0" y="0"/>
                </a:moveTo>
                <a:lnTo>
                  <a:pt x="6925852" y="0"/>
                </a:lnTo>
                <a:lnTo>
                  <a:pt x="6925852" y="6014556"/>
                </a:lnTo>
                <a:lnTo>
                  <a:pt x="0" y="6014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635325">
            <a:off x="-1336143" y="692332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16283" y="847655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2315724" y="82296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2071788" y="3908397"/>
            <a:ext cx="8114734" cy="110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7074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網路小說推薦系統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83493" y="2614295"/>
            <a:ext cx="2441113" cy="96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46"/>
              </a:lnSpc>
            </a:pPr>
            <a:r>
              <a:rPr lang="en-US" sz="56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第九組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71788" y="5373817"/>
            <a:ext cx="4714182" cy="3591531"/>
            <a:chOff x="0" y="0"/>
            <a:chExt cx="6285575" cy="478870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4522426" cy="4836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412410085 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412410291   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412410929 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412411281    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412411315    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資工2B 412411810   </a:t>
              </a:r>
            </a:p>
            <a:p>
              <a:pPr algn="l">
                <a:lnSpc>
                  <a:spcPts val="4166"/>
                </a:lnSpc>
              </a:pPr>
              <a:endPara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34070" y="-47625"/>
              <a:ext cx="1751506" cy="4836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張子頡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林鈺丞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呂秉諺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劉奕霈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張庭瑄</a:t>
              </a:r>
            </a:p>
            <a:p>
              <a:pPr algn="l">
                <a:lnSpc>
                  <a:spcPts val="4166"/>
                </a:lnSpc>
              </a:pPr>
              <a:r>
                <a:rPr lang="en-US" sz="2976">
                  <a:solidFill>
                    <a:srgbClr val="5B7AB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金庭聿</a:t>
              </a:r>
            </a:p>
            <a:p>
              <a:pPr algn="l">
                <a:lnSpc>
                  <a:spcPts val="4166"/>
                </a:lnSpc>
              </a:pPr>
              <a:endPara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7717077" cy="5261644"/>
          </a:xfrm>
          <a:custGeom>
            <a:avLst/>
            <a:gdLst/>
            <a:ahLst/>
            <a:cxnLst/>
            <a:rect l="l" t="t" r="r" b="b"/>
            <a:pathLst>
              <a:path w="7717077" h="5261644">
                <a:moveTo>
                  <a:pt x="0" y="0"/>
                </a:moveTo>
                <a:lnTo>
                  <a:pt x="7717077" y="0"/>
                </a:lnTo>
                <a:lnTo>
                  <a:pt x="7717077" y="5261644"/>
                </a:lnTo>
                <a:lnTo>
                  <a:pt x="0" y="5261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227742" y="1095451"/>
            <a:ext cx="1832515" cy="110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7074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目錄</a:t>
            </a:r>
          </a:p>
        </p:txBody>
      </p:sp>
      <p:sp>
        <p:nvSpPr>
          <p:cNvPr id="4" name="Freeform 4"/>
          <p:cNvSpPr/>
          <p:nvPr/>
        </p:nvSpPr>
        <p:spPr>
          <a:xfrm rot="635325">
            <a:off x="12426100" y="7886497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1" y="0"/>
                </a:lnTo>
                <a:lnTo>
                  <a:pt x="7907021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 flipH="1">
            <a:off x="14971229" y="17523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4576142" y="0"/>
                </a:moveTo>
                <a:lnTo>
                  <a:pt x="0" y="0"/>
                </a:lnTo>
                <a:lnTo>
                  <a:pt x="0" y="2579280"/>
                </a:lnTo>
                <a:lnTo>
                  <a:pt x="4576142" y="2579280"/>
                </a:lnTo>
                <a:lnTo>
                  <a:pt x="45761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 flipH="1">
            <a:off x="-520909" y="8158255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2835471" y="0"/>
                </a:moveTo>
                <a:lnTo>
                  <a:pt x="0" y="0"/>
                </a:lnTo>
                <a:lnTo>
                  <a:pt x="0" y="4114800"/>
                </a:lnTo>
                <a:lnTo>
                  <a:pt x="2835471" y="4114800"/>
                </a:lnTo>
                <a:lnTo>
                  <a:pt x="28354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>
            <a:off x="14205508" y="5415695"/>
            <a:ext cx="3805060" cy="4799960"/>
          </a:xfrm>
          <a:custGeom>
            <a:avLst/>
            <a:gdLst/>
            <a:ahLst/>
            <a:cxnLst/>
            <a:rect l="l" t="t" r="r" b="b"/>
            <a:pathLst>
              <a:path w="3805060" h="4799960">
                <a:moveTo>
                  <a:pt x="0" y="0"/>
                </a:moveTo>
                <a:lnTo>
                  <a:pt x="3805060" y="0"/>
                </a:lnTo>
                <a:lnTo>
                  <a:pt x="3805060" y="4799960"/>
                </a:lnTo>
                <a:lnTo>
                  <a:pt x="0" y="4799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959949" y="3622807"/>
            <a:ext cx="1839138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前言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91107" y="3241968"/>
            <a:ext cx="1427076" cy="4945011"/>
            <a:chOff x="0" y="0"/>
            <a:chExt cx="1902768" cy="6593348"/>
          </a:xfrm>
        </p:grpSpPr>
        <p:sp>
          <p:nvSpPr>
            <p:cNvPr id="10" name="Freeform 10"/>
            <p:cNvSpPr/>
            <p:nvPr/>
          </p:nvSpPr>
          <p:spPr>
            <a:xfrm>
              <a:off x="60675" y="0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3" y="0"/>
                  </a:lnTo>
                  <a:lnTo>
                    <a:pt x="1842093" y="1842094"/>
                  </a:lnTo>
                  <a:lnTo>
                    <a:pt x="0" y="18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2375761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4" y="0"/>
                  </a:lnTo>
                  <a:lnTo>
                    <a:pt x="1842094" y="1842093"/>
                  </a:lnTo>
                  <a:lnTo>
                    <a:pt x="0" y="184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4751254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4" y="0"/>
                  </a:lnTo>
                  <a:lnTo>
                    <a:pt x="1842094" y="1842094"/>
                  </a:lnTo>
                  <a:lnTo>
                    <a:pt x="0" y="18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389" y="224845"/>
              <a:ext cx="1372665" cy="137266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95389" y="2610475"/>
              <a:ext cx="1372665" cy="1372665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81692" y="4985969"/>
              <a:ext cx="1372665" cy="1372665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41838" y="57702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838" y="296265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8141" y="5338147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959949" y="5357733"/>
            <a:ext cx="4130887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系統分析與設計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59949" y="7090388"/>
            <a:ext cx="4130887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資料庫邏輯設計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355240" y="3246730"/>
            <a:ext cx="1427076" cy="4945011"/>
            <a:chOff x="0" y="0"/>
            <a:chExt cx="1902768" cy="6593348"/>
          </a:xfrm>
        </p:grpSpPr>
        <p:sp>
          <p:nvSpPr>
            <p:cNvPr id="28" name="Freeform 28"/>
            <p:cNvSpPr/>
            <p:nvPr/>
          </p:nvSpPr>
          <p:spPr>
            <a:xfrm>
              <a:off x="60675" y="0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3" y="0"/>
                  </a:lnTo>
                  <a:lnTo>
                    <a:pt x="1842093" y="1842094"/>
                  </a:lnTo>
                  <a:lnTo>
                    <a:pt x="0" y="18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2375761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4" y="0"/>
                  </a:lnTo>
                  <a:lnTo>
                    <a:pt x="1842094" y="1842093"/>
                  </a:lnTo>
                  <a:lnTo>
                    <a:pt x="0" y="184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751254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4" y="0"/>
                  </a:lnTo>
                  <a:lnTo>
                    <a:pt x="1842094" y="1842094"/>
                  </a:lnTo>
                  <a:lnTo>
                    <a:pt x="0" y="18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95389" y="224845"/>
              <a:ext cx="1372665" cy="137266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95389" y="2610475"/>
              <a:ext cx="1372665" cy="137266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1692" y="4985969"/>
              <a:ext cx="1372665" cy="1372665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341838" y="57702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1838" y="296265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8141" y="5338147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06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820417" y="3622807"/>
            <a:ext cx="3691797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820417" y="5357733"/>
            <a:ext cx="1499528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20417" y="7090388"/>
            <a:ext cx="1499528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結論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1639919" y="3241968"/>
            <a:ext cx="1427076" cy="3163391"/>
            <a:chOff x="0" y="0"/>
            <a:chExt cx="1902768" cy="4217854"/>
          </a:xfrm>
        </p:grpSpPr>
        <p:sp>
          <p:nvSpPr>
            <p:cNvPr id="47" name="Freeform 47"/>
            <p:cNvSpPr/>
            <p:nvPr/>
          </p:nvSpPr>
          <p:spPr>
            <a:xfrm>
              <a:off x="60675" y="0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3" y="0"/>
                  </a:lnTo>
                  <a:lnTo>
                    <a:pt x="1842093" y="1842094"/>
                  </a:lnTo>
                  <a:lnTo>
                    <a:pt x="0" y="1842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2375761"/>
              <a:ext cx="1842094" cy="1842094"/>
            </a:xfrm>
            <a:custGeom>
              <a:avLst/>
              <a:gdLst/>
              <a:ahLst/>
              <a:cxnLst/>
              <a:rect l="l" t="t" r="r" b="b"/>
              <a:pathLst>
                <a:path w="1842094" h="1842094">
                  <a:moveTo>
                    <a:pt x="0" y="0"/>
                  </a:moveTo>
                  <a:lnTo>
                    <a:pt x="1842094" y="0"/>
                  </a:lnTo>
                  <a:lnTo>
                    <a:pt x="1842094" y="1842093"/>
                  </a:lnTo>
                  <a:lnTo>
                    <a:pt x="0" y="1842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48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295389" y="224845"/>
              <a:ext cx="1372665" cy="1372665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295389" y="2610475"/>
              <a:ext cx="1372665" cy="1372665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341838" y="57702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41838" y="2962654"/>
              <a:ext cx="1279767" cy="658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0"/>
                </a:lnSpc>
              </a:pPr>
              <a:r>
                <a:rPr lang="en-US" sz="3199" b="1">
                  <a:solidFill>
                    <a:srgbClr val="2D2261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08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3105096" y="3622807"/>
            <a:ext cx="3691797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工作分配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105096" y="5357733"/>
            <a:ext cx="3691797" cy="703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53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參考資料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532743" flipH="1">
            <a:off x="12538237" y="-488351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9442126" y="0"/>
                </a:moveTo>
                <a:lnTo>
                  <a:pt x="0" y="0"/>
                </a:lnTo>
                <a:lnTo>
                  <a:pt x="0" y="8000056"/>
                </a:lnTo>
                <a:lnTo>
                  <a:pt x="9442126" y="8000056"/>
                </a:lnTo>
                <a:lnTo>
                  <a:pt x="9442126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 rot="-10410025">
            <a:off x="-1520208" y="-1960747"/>
            <a:ext cx="5097816" cy="5029049"/>
            <a:chOff x="0" y="0"/>
            <a:chExt cx="6797088" cy="6705399"/>
          </a:xfrm>
        </p:grpSpPr>
        <p:sp>
          <p:nvSpPr>
            <p:cNvPr id="4" name="Freeform 4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Freeform 5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Freeform 6"/>
          <p:cNvSpPr/>
          <p:nvPr/>
        </p:nvSpPr>
        <p:spPr>
          <a:xfrm rot="1956542" flipH="1">
            <a:off x="-3775590" y="7507770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10960234" y="0"/>
                </a:moveTo>
                <a:lnTo>
                  <a:pt x="0" y="0"/>
                </a:lnTo>
                <a:lnTo>
                  <a:pt x="0" y="7472887"/>
                </a:lnTo>
                <a:lnTo>
                  <a:pt x="10960234" y="7472887"/>
                </a:lnTo>
                <a:lnTo>
                  <a:pt x="10960234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736403" y="2670496"/>
            <a:ext cx="17298952" cy="3481668"/>
            <a:chOff x="0" y="0"/>
            <a:chExt cx="23065269" cy="464222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2862069" cy="4439023"/>
              <a:chOff x="0" y="0"/>
              <a:chExt cx="4515964" cy="87684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515964" cy="876844"/>
              </a:xfrm>
              <a:custGeom>
                <a:avLst/>
                <a:gdLst/>
                <a:ahLst/>
                <a:cxnLst/>
                <a:rect l="l" t="t" r="r" b="b"/>
                <a:pathLst>
                  <a:path w="4515964" h="876844">
                    <a:moveTo>
                      <a:pt x="13545" y="0"/>
                    </a:moveTo>
                    <a:lnTo>
                      <a:pt x="4502419" y="0"/>
                    </a:lnTo>
                    <a:cubicBezTo>
                      <a:pt x="4506011" y="0"/>
                      <a:pt x="4509457" y="1427"/>
                      <a:pt x="4511997" y="3967"/>
                    </a:cubicBezTo>
                    <a:cubicBezTo>
                      <a:pt x="4514537" y="6508"/>
                      <a:pt x="4515964" y="9953"/>
                      <a:pt x="4515964" y="13545"/>
                    </a:cubicBezTo>
                    <a:lnTo>
                      <a:pt x="4515964" y="863299"/>
                    </a:lnTo>
                    <a:cubicBezTo>
                      <a:pt x="4515964" y="870780"/>
                      <a:pt x="4509900" y="876844"/>
                      <a:pt x="4502419" y="876844"/>
                    </a:cubicBezTo>
                    <a:lnTo>
                      <a:pt x="13545" y="876844"/>
                    </a:lnTo>
                    <a:cubicBezTo>
                      <a:pt x="6065" y="876844"/>
                      <a:pt x="0" y="870780"/>
                      <a:pt x="0" y="863299"/>
                    </a:cubicBezTo>
                    <a:lnTo>
                      <a:pt x="0" y="13545"/>
                    </a:lnTo>
                    <a:cubicBezTo>
                      <a:pt x="0" y="6065"/>
                      <a:pt x="6065" y="0"/>
                      <a:pt x="13545" y="0"/>
                    </a:cubicBezTo>
                    <a:close/>
                  </a:path>
                </a:pathLst>
              </a:custGeom>
              <a:solidFill>
                <a:srgbClr val="ECE1D7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4515964" cy="9244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03200" y="203200"/>
              <a:ext cx="22862069" cy="4439023"/>
              <a:chOff x="0" y="0"/>
              <a:chExt cx="4515964" cy="87684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515964" cy="876844"/>
              </a:xfrm>
              <a:custGeom>
                <a:avLst/>
                <a:gdLst/>
                <a:ahLst/>
                <a:cxnLst/>
                <a:rect l="l" t="t" r="r" b="b"/>
                <a:pathLst>
                  <a:path w="4515964" h="876844">
                    <a:moveTo>
                      <a:pt x="13545" y="0"/>
                    </a:moveTo>
                    <a:lnTo>
                      <a:pt x="4502419" y="0"/>
                    </a:lnTo>
                    <a:cubicBezTo>
                      <a:pt x="4506011" y="0"/>
                      <a:pt x="4509457" y="1427"/>
                      <a:pt x="4511997" y="3967"/>
                    </a:cubicBezTo>
                    <a:cubicBezTo>
                      <a:pt x="4514537" y="6508"/>
                      <a:pt x="4515964" y="9953"/>
                      <a:pt x="4515964" y="13545"/>
                    </a:cubicBezTo>
                    <a:lnTo>
                      <a:pt x="4515964" y="863299"/>
                    </a:lnTo>
                    <a:cubicBezTo>
                      <a:pt x="4515964" y="870780"/>
                      <a:pt x="4509900" y="876844"/>
                      <a:pt x="4502419" y="876844"/>
                    </a:cubicBezTo>
                    <a:lnTo>
                      <a:pt x="13545" y="876844"/>
                    </a:lnTo>
                    <a:cubicBezTo>
                      <a:pt x="6065" y="876844"/>
                      <a:pt x="0" y="870780"/>
                      <a:pt x="0" y="863299"/>
                    </a:cubicBezTo>
                    <a:lnTo>
                      <a:pt x="0" y="13545"/>
                    </a:lnTo>
                    <a:cubicBezTo>
                      <a:pt x="0" y="6065"/>
                      <a:pt x="6065" y="0"/>
                      <a:pt x="13545" y="0"/>
                    </a:cubicBezTo>
                    <a:close/>
                  </a:path>
                </a:pathLst>
              </a:custGeom>
              <a:solidFill>
                <a:srgbClr val="ECE1D7">
                  <a:alpha val="26667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4515964" cy="9244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736403" y="1503622"/>
            <a:ext cx="2359455" cy="1289830"/>
            <a:chOff x="0" y="0"/>
            <a:chExt cx="3145939" cy="17197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145939" cy="1719773"/>
              <a:chOff x="0" y="0"/>
              <a:chExt cx="749135" cy="4095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49135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749135" h="409526">
                    <a:moveTo>
                      <a:pt x="98437" y="0"/>
                    </a:moveTo>
                    <a:lnTo>
                      <a:pt x="650698" y="0"/>
                    </a:lnTo>
                    <a:cubicBezTo>
                      <a:pt x="705064" y="0"/>
                      <a:pt x="749135" y="44072"/>
                      <a:pt x="749135" y="98437"/>
                    </a:cubicBezTo>
                    <a:lnTo>
                      <a:pt x="749135" y="311089"/>
                    </a:lnTo>
                    <a:cubicBezTo>
                      <a:pt x="749135" y="365454"/>
                      <a:pt x="705064" y="409526"/>
                      <a:pt x="650698" y="409526"/>
                    </a:cubicBezTo>
                    <a:lnTo>
                      <a:pt x="98437" y="409526"/>
                    </a:lnTo>
                    <a:cubicBezTo>
                      <a:pt x="44072" y="409526"/>
                      <a:pt x="0" y="365454"/>
                      <a:pt x="0" y="311089"/>
                    </a:cubicBezTo>
                    <a:lnTo>
                      <a:pt x="0" y="98437"/>
                    </a:lnTo>
                    <a:cubicBezTo>
                      <a:pt x="0" y="44072"/>
                      <a:pt x="44072" y="0"/>
                      <a:pt x="98437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749135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04360" y="380965"/>
              <a:ext cx="1937220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動機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21321" y="3041102"/>
            <a:ext cx="16176715" cy="295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3"/>
              </a:lnSpc>
            </a:pPr>
            <a:r>
              <a:rPr lang="en-US" sz="2838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線上小說閱讀網站種類繁多，網站除了提供讀者閱讀書籍的功能，還往往兼具「推薦書籍」的任務。而在使用「Mojoin線上漫畫、小說平台」閱讀小說時，我們卻發現他的「更多感興趣」推薦內容多半與讀者正在閱讀的書、歷史閱讀紀錄或收藏的小說較無相似之處，似乎沒有一個合理且有效的推薦系統，能以使用者的閱讀紀錄與收藏內容為依據，推薦符合對方閱讀的類型、可能感興趣的書籍。因此我們打算模擬Mojoin網頁使用方式，結合演算法與資料庫，推薦使用者可能感興趣的小說。</a:t>
            </a:r>
          </a:p>
          <a:p>
            <a:pPr algn="ctr">
              <a:lnSpc>
                <a:spcPts val="3973"/>
              </a:lnSpc>
            </a:pPr>
            <a:endParaRPr lang="en-US" sz="2838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736403" y="7726132"/>
            <a:ext cx="17146552" cy="1078232"/>
            <a:chOff x="0" y="0"/>
            <a:chExt cx="4515964" cy="2839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15964" cy="283979"/>
            </a:xfrm>
            <a:custGeom>
              <a:avLst/>
              <a:gdLst/>
              <a:ahLst/>
              <a:cxnLst/>
              <a:rect l="l" t="t" r="r" b="b"/>
              <a:pathLst>
                <a:path w="4515964" h="283979">
                  <a:moveTo>
                    <a:pt x="13545" y="0"/>
                  </a:moveTo>
                  <a:lnTo>
                    <a:pt x="4502419" y="0"/>
                  </a:lnTo>
                  <a:cubicBezTo>
                    <a:pt x="4506011" y="0"/>
                    <a:pt x="4509457" y="1427"/>
                    <a:pt x="4511997" y="3967"/>
                  </a:cubicBezTo>
                  <a:cubicBezTo>
                    <a:pt x="4514537" y="6508"/>
                    <a:pt x="4515964" y="9953"/>
                    <a:pt x="4515964" y="13545"/>
                  </a:cubicBezTo>
                  <a:lnTo>
                    <a:pt x="4515964" y="270433"/>
                  </a:lnTo>
                  <a:cubicBezTo>
                    <a:pt x="4515964" y="277914"/>
                    <a:pt x="4509900" y="283979"/>
                    <a:pt x="4502419" y="283979"/>
                  </a:cubicBezTo>
                  <a:lnTo>
                    <a:pt x="13545" y="283979"/>
                  </a:lnTo>
                  <a:cubicBezTo>
                    <a:pt x="6065" y="283979"/>
                    <a:pt x="0" y="277914"/>
                    <a:pt x="0" y="270433"/>
                  </a:cubicBezTo>
                  <a:lnTo>
                    <a:pt x="0" y="13545"/>
                  </a:lnTo>
                  <a:cubicBezTo>
                    <a:pt x="0" y="6065"/>
                    <a:pt x="6065" y="0"/>
                    <a:pt x="13545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515964" cy="331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6403" y="6501831"/>
            <a:ext cx="2359455" cy="1289830"/>
            <a:chOff x="0" y="0"/>
            <a:chExt cx="3145939" cy="171977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3145939" cy="1719773"/>
              <a:chOff x="0" y="0"/>
              <a:chExt cx="749135" cy="4095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49135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749135" h="409526">
                    <a:moveTo>
                      <a:pt x="81655" y="0"/>
                    </a:moveTo>
                    <a:lnTo>
                      <a:pt x="667480" y="0"/>
                    </a:lnTo>
                    <a:cubicBezTo>
                      <a:pt x="712577" y="0"/>
                      <a:pt x="749135" y="36558"/>
                      <a:pt x="749135" y="81655"/>
                    </a:cubicBezTo>
                    <a:lnTo>
                      <a:pt x="749135" y="327870"/>
                    </a:lnTo>
                    <a:cubicBezTo>
                      <a:pt x="749135" y="372967"/>
                      <a:pt x="712577" y="409526"/>
                      <a:pt x="667480" y="409526"/>
                    </a:cubicBezTo>
                    <a:lnTo>
                      <a:pt x="81655" y="409526"/>
                    </a:lnTo>
                    <a:cubicBezTo>
                      <a:pt x="36558" y="409526"/>
                      <a:pt x="0" y="372967"/>
                      <a:pt x="0" y="327870"/>
                    </a:cubicBezTo>
                    <a:lnTo>
                      <a:pt x="0" y="81655"/>
                    </a:lnTo>
                    <a:cubicBezTo>
                      <a:pt x="0" y="36558"/>
                      <a:pt x="36558" y="0"/>
                      <a:pt x="81655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749135" cy="4571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04360" y="380965"/>
              <a:ext cx="1937220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目的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88803" y="7878532"/>
            <a:ext cx="17146552" cy="1078232"/>
            <a:chOff x="0" y="0"/>
            <a:chExt cx="4515964" cy="28397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15964" cy="283979"/>
            </a:xfrm>
            <a:custGeom>
              <a:avLst/>
              <a:gdLst/>
              <a:ahLst/>
              <a:cxnLst/>
              <a:rect l="l" t="t" r="r" b="b"/>
              <a:pathLst>
                <a:path w="4515964" h="283979">
                  <a:moveTo>
                    <a:pt x="13545" y="0"/>
                  </a:moveTo>
                  <a:lnTo>
                    <a:pt x="4502419" y="0"/>
                  </a:lnTo>
                  <a:cubicBezTo>
                    <a:pt x="4506011" y="0"/>
                    <a:pt x="4509457" y="1427"/>
                    <a:pt x="4511997" y="3967"/>
                  </a:cubicBezTo>
                  <a:cubicBezTo>
                    <a:pt x="4514537" y="6508"/>
                    <a:pt x="4515964" y="9953"/>
                    <a:pt x="4515964" y="13545"/>
                  </a:cubicBezTo>
                  <a:lnTo>
                    <a:pt x="4515964" y="270433"/>
                  </a:lnTo>
                  <a:cubicBezTo>
                    <a:pt x="4515964" y="277914"/>
                    <a:pt x="4509900" y="283979"/>
                    <a:pt x="4502419" y="283979"/>
                  </a:cubicBezTo>
                  <a:lnTo>
                    <a:pt x="13545" y="283979"/>
                  </a:lnTo>
                  <a:cubicBezTo>
                    <a:pt x="6065" y="283979"/>
                    <a:pt x="0" y="277914"/>
                    <a:pt x="0" y="270433"/>
                  </a:cubicBezTo>
                  <a:lnTo>
                    <a:pt x="0" y="13545"/>
                  </a:lnTo>
                  <a:cubicBezTo>
                    <a:pt x="0" y="6065"/>
                    <a:pt x="6065" y="0"/>
                    <a:pt x="13545" y="0"/>
                  </a:cubicBezTo>
                  <a:close/>
                </a:path>
              </a:pathLst>
            </a:custGeom>
            <a:solidFill>
              <a:srgbClr val="ECE1D7">
                <a:alpha val="26667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515964" cy="331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10224569">
            <a:off x="15518673" y="7433897"/>
            <a:ext cx="3758726" cy="3714999"/>
            <a:chOff x="0" y="0"/>
            <a:chExt cx="5011634" cy="4953331"/>
          </a:xfrm>
        </p:grpSpPr>
        <p:sp>
          <p:nvSpPr>
            <p:cNvPr id="32" name="Freeform 32"/>
            <p:cNvSpPr/>
            <p:nvPr/>
          </p:nvSpPr>
          <p:spPr>
            <a:xfrm rot="-2624874">
              <a:off x="242416" y="1156596"/>
              <a:ext cx="4323602" cy="2436939"/>
            </a:xfrm>
            <a:custGeom>
              <a:avLst/>
              <a:gdLst/>
              <a:ahLst/>
              <a:cxnLst/>
              <a:rect l="l" t="t" r="r" b="b"/>
              <a:pathLst>
                <a:path w="4323602" h="2436939">
                  <a:moveTo>
                    <a:pt x="0" y="0"/>
                  </a:moveTo>
                  <a:lnTo>
                    <a:pt x="4323602" y="0"/>
                  </a:lnTo>
                  <a:lnTo>
                    <a:pt x="4323602" y="2436939"/>
                  </a:lnTo>
                  <a:lnTo>
                    <a:pt x="0" y="2436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33"/>
            <p:cNvSpPr/>
            <p:nvPr/>
          </p:nvSpPr>
          <p:spPr>
            <a:xfrm rot="-2624874">
              <a:off x="445616" y="1359796"/>
              <a:ext cx="4323602" cy="2436939"/>
            </a:xfrm>
            <a:custGeom>
              <a:avLst/>
              <a:gdLst/>
              <a:ahLst/>
              <a:cxnLst/>
              <a:rect l="l" t="t" r="r" b="b"/>
              <a:pathLst>
                <a:path w="4323602" h="2436939">
                  <a:moveTo>
                    <a:pt x="0" y="0"/>
                  </a:moveTo>
                  <a:lnTo>
                    <a:pt x="4323602" y="0"/>
                  </a:lnTo>
                  <a:lnTo>
                    <a:pt x="4323602" y="2436939"/>
                  </a:lnTo>
                  <a:lnTo>
                    <a:pt x="0" y="2436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21321" y="8041422"/>
            <a:ext cx="10594361" cy="97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3"/>
              </a:lnSpc>
            </a:pPr>
            <a:r>
              <a:rPr lang="en-US" sz="2838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透過演算法搜尋MySQL資料庫，推薦使用者可能感興趣的小說。</a:t>
            </a:r>
          </a:p>
          <a:p>
            <a:pPr algn="ctr">
              <a:lnSpc>
                <a:spcPts val="3973"/>
              </a:lnSpc>
            </a:pPr>
            <a:endParaRPr lang="en-US" sz="2838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334382" y="534728"/>
            <a:ext cx="1619235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前言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3483726" y="9370238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AutoShape 3"/>
          <p:cNvSpPr/>
          <p:nvPr/>
        </p:nvSpPr>
        <p:spPr>
          <a:xfrm flipV="1">
            <a:off x="1887521" y="2325130"/>
            <a:ext cx="1813554" cy="38505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3701075" y="1892389"/>
            <a:ext cx="8336784" cy="5655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606651" y="1235474"/>
            <a:ext cx="7920797" cy="5461430"/>
            <a:chOff x="0" y="0"/>
            <a:chExt cx="10561063" cy="728190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1392066"/>
              <a:ext cx="10339157" cy="5632030"/>
              <a:chOff x="0" y="0"/>
              <a:chExt cx="2042303" cy="1112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042303" cy="1112500"/>
              </a:xfrm>
              <a:custGeom>
                <a:avLst/>
                <a:gdLst/>
                <a:ahLst/>
                <a:cxnLst/>
                <a:rect l="l" t="t" r="r" b="b"/>
                <a:pathLst>
                  <a:path w="2042303" h="1112500">
                    <a:moveTo>
                      <a:pt x="29952" y="0"/>
                    </a:moveTo>
                    <a:lnTo>
                      <a:pt x="2012351" y="0"/>
                    </a:lnTo>
                    <a:cubicBezTo>
                      <a:pt x="2028893" y="0"/>
                      <a:pt x="2042303" y="13410"/>
                      <a:pt x="2042303" y="29952"/>
                    </a:cubicBezTo>
                    <a:lnTo>
                      <a:pt x="2042303" y="1082548"/>
                    </a:lnTo>
                    <a:cubicBezTo>
                      <a:pt x="2042303" y="1099090"/>
                      <a:pt x="2028893" y="1112500"/>
                      <a:pt x="2012351" y="1112500"/>
                    </a:cubicBezTo>
                    <a:lnTo>
                      <a:pt x="29952" y="1112500"/>
                    </a:lnTo>
                    <a:cubicBezTo>
                      <a:pt x="13410" y="1112500"/>
                      <a:pt x="0" y="1099090"/>
                      <a:pt x="0" y="1082548"/>
                    </a:cubicBezTo>
                    <a:lnTo>
                      <a:pt x="0" y="29952"/>
                    </a:lnTo>
                    <a:cubicBezTo>
                      <a:pt x="0" y="13410"/>
                      <a:pt x="13410" y="0"/>
                      <a:pt x="29952" y="0"/>
                    </a:cubicBezTo>
                    <a:close/>
                  </a:path>
                </a:pathLst>
              </a:custGeom>
              <a:solidFill>
                <a:srgbClr val="F7E49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2042303" cy="1160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1895" y="1649877"/>
              <a:ext cx="10469168" cy="5632030"/>
              <a:chOff x="0" y="0"/>
              <a:chExt cx="2067984" cy="1112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067984" cy="1112500"/>
              </a:xfrm>
              <a:custGeom>
                <a:avLst/>
                <a:gdLst/>
                <a:ahLst/>
                <a:cxnLst/>
                <a:rect l="l" t="t" r="r" b="b"/>
                <a:pathLst>
                  <a:path w="2067984" h="1112500">
                    <a:moveTo>
                      <a:pt x="29580" y="0"/>
                    </a:moveTo>
                    <a:lnTo>
                      <a:pt x="2038404" y="0"/>
                    </a:lnTo>
                    <a:cubicBezTo>
                      <a:pt x="2054740" y="0"/>
                      <a:pt x="2067984" y="13243"/>
                      <a:pt x="2067984" y="29580"/>
                    </a:cubicBezTo>
                    <a:lnTo>
                      <a:pt x="2067984" y="1082920"/>
                    </a:lnTo>
                    <a:cubicBezTo>
                      <a:pt x="2067984" y="1090765"/>
                      <a:pt x="2064867" y="1098289"/>
                      <a:pt x="2059320" y="1103836"/>
                    </a:cubicBezTo>
                    <a:cubicBezTo>
                      <a:pt x="2053773" y="1109383"/>
                      <a:pt x="2046249" y="1112500"/>
                      <a:pt x="2038404" y="1112500"/>
                    </a:cubicBezTo>
                    <a:lnTo>
                      <a:pt x="29580" y="1112500"/>
                    </a:lnTo>
                    <a:cubicBezTo>
                      <a:pt x="21735" y="1112500"/>
                      <a:pt x="14211" y="1109383"/>
                      <a:pt x="8664" y="1103836"/>
                    </a:cubicBezTo>
                    <a:cubicBezTo>
                      <a:pt x="3116" y="1098289"/>
                      <a:pt x="0" y="1090765"/>
                      <a:pt x="0" y="1082920"/>
                    </a:cubicBezTo>
                    <a:lnTo>
                      <a:pt x="0" y="29580"/>
                    </a:lnTo>
                    <a:cubicBezTo>
                      <a:pt x="0" y="21735"/>
                      <a:pt x="3116" y="14211"/>
                      <a:pt x="8664" y="8664"/>
                    </a:cubicBezTo>
                    <a:cubicBezTo>
                      <a:pt x="14211" y="3116"/>
                      <a:pt x="21735" y="0"/>
                      <a:pt x="29580" y="0"/>
                    </a:cubicBezTo>
                    <a:close/>
                  </a:path>
                </a:pathLst>
              </a:custGeom>
              <a:solidFill>
                <a:srgbClr val="FFE88D">
                  <a:alpha val="26667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2067984" cy="1160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1912161"/>
              <a:ext cx="10137841" cy="4583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所有書籍均需登錄於該系統內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可瀏覽平台上所有書籍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可經由類型、出版社篩選書籍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可經由作者姓名、書籍名稱查找書籍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管理者可任意增加或刪除書籍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 使用者須登入方可使用平台之推薦書籍功能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系統可記錄使用者歷史閱讀紀錄、收藏紀錄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2943746" y="0"/>
              <a:ext cx="4673571" cy="1719773"/>
              <a:chOff x="0" y="0"/>
              <a:chExt cx="1112907" cy="4095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12906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1112906" h="409526">
                    <a:moveTo>
                      <a:pt x="66261" y="0"/>
                    </a:moveTo>
                    <a:lnTo>
                      <a:pt x="1046645" y="0"/>
                    </a:lnTo>
                    <a:cubicBezTo>
                      <a:pt x="1083240" y="0"/>
                      <a:pt x="1112906" y="29666"/>
                      <a:pt x="1112906" y="66261"/>
                    </a:cubicBezTo>
                    <a:lnTo>
                      <a:pt x="1112906" y="343264"/>
                    </a:lnTo>
                    <a:cubicBezTo>
                      <a:pt x="1112906" y="379859"/>
                      <a:pt x="1083240" y="409526"/>
                      <a:pt x="1046645" y="409526"/>
                    </a:cubicBezTo>
                    <a:lnTo>
                      <a:pt x="66261" y="409526"/>
                    </a:lnTo>
                    <a:cubicBezTo>
                      <a:pt x="29666" y="409526"/>
                      <a:pt x="0" y="379859"/>
                      <a:pt x="0" y="343264"/>
                    </a:cubicBezTo>
                    <a:lnTo>
                      <a:pt x="0" y="66261"/>
                    </a:lnTo>
                    <a:cubicBezTo>
                      <a:pt x="0" y="29666"/>
                      <a:pt x="29666" y="0"/>
                      <a:pt x="66261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112907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41576" y="380965"/>
              <a:ext cx="2877911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系統需求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5721" y="1722453"/>
            <a:ext cx="7993929" cy="3464346"/>
            <a:chOff x="0" y="0"/>
            <a:chExt cx="10658572" cy="4619128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1392066"/>
              <a:ext cx="10434616" cy="3085807"/>
              <a:chOff x="0" y="0"/>
              <a:chExt cx="2061159" cy="60954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061159" cy="609542"/>
              </a:xfrm>
              <a:custGeom>
                <a:avLst/>
                <a:gdLst/>
                <a:ahLst/>
                <a:cxnLst/>
                <a:rect l="l" t="t" r="r" b="b"/>
                <a:pathLst>
                  <a:path w="2061159" h="609542">
                    <a:moveTo>
                      <a:pt x="29678" y="0"/>
                    </a:moveTo>
                    <a:lnTo>
                      <a:pt x="2031481" y="0"/>
                    </a:lnTo>
                    <a:cubicBezTo>
                      <a:pt x="2039352" y="0"/>
                      <a:pt x="2046901" y="3127"/>
                      <a:pt x="2052466" y="8692"/>
                    </a:cubicBezTo>
                    <a:cubicBezTo>
                      <a:pt x="2058032" y="14258"/>
                      <a:pt x="2061159" y="21807"/>
                      <a:pt x="2061159" y="29678"/>
                    </a:cubicBezTo>
                    <a:lnTo>
                      <a:pt x="2061159" y="579864"/>
                    </a:lnTo>
                    <a:cubicBezTo>
                      <a:pt x="2061159" y="587735"/>
                      <a:pt x="2058032" y="595284"/>
                      <a:pt x="2052466" y="600850"/>
                    </a:cubicBezTo>
                    <a:cubicBezTo>
                      <a:pt x="2046901" y="606415"/>
                      <a:pt x="2039352" y="609542"/>
                      <a:pt x="2031481" y="609542"/>
                    </a:cubicBezTo>
                    <a:lnTo>
                      <a:pt x="29678" y="609542"/>
                    </a:lnTo>
                    <a:cubicBezTo>
                      <a:pt x="21807" y="609542"/>
                      <a:pt x="14258" y="606415"/>
                      <a:pt x="8692" y="600850"/>
                    </a:cubicBezTo>
                    <a:cubicBezTo>
                      <a:pt x="3127" y="595284"/>
                      <a:pt x="0" y="587735"/>
                      <a:pt x="0" y="579864"/>
                    </a:cubicBezTo>
                    <a:lnTo>
                      <a:pt x="0" y="29678"/>
                    </a:lnTo>
                    <a:cubicBezTo>
                      <a:pt x="0" y="21807"/>
                      <a:pt x="3127" y="14258"/>
                      <a:pt x="8692" y="8692"/>
                    </a:cubicBezTo>
                    <a:cubicBezTo>
                      <a:pt x="14258" y="3127"/>
                      <a:pt x="21807" y="0"/>
                      <a:pt x="29678" y="0"/>
                    </a:cubicBezTo>
                    <a:close/>
                  </a:path>
                </a:pathLst>
              </a:custGeom>
              <a:solidFill>
                <a:srgbClr val="F7E49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2061159" cy="6571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2744" y="1533321"/>
              <a:ext cx="10565828" cy="3085807"/>
              <a:chOff x="0" y="0"/>
              <a:chExt cx="2087077" cy="60954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087077" cy="609542"/>
              </a:xfrm>
              <a:custGeom>
                <a:avLst/>
                <a:gdLst/>
                <a:ahLst/>
                <a:cxnLst/>
                <a:rect l="l" t="t" r="r" b="b"/>
                <a:pathLst>
                  <a:path w="2087077" h="609542">
                    <a:moveTo>
                      <a:pt x="29309" y="0"/>
                    </a:moveTo>
                    <a:lnTo>
                      <a:pt x="2057768" y="0"/>
                    </a:lnTo>
                    <a:cubicBezTo>
                      <a:pt x="2073955" y="0"/>
                      <a:pt x="2087077" y="13122"/>
                      <a:pt x="2087077" y="29309"/>
                    </a:cubicBezTo>
                    <a:lnTo>
                      <a:pt x="2087077" y="580233"/>
                    </a:lnTo>
                    <a:cubicBezTo>
                      <a:pt x="2087077" y="596420"/>
                      <a:pt x="2073955" y="609542"/>
                      <a:pt x="2057768" y="609542"/>
                    </a:cubicBezTo>
                    <a:lnTo>
                      <a:pt x="29309" y="609542"/>
                    </a:lnTo>
                    <a:cubicBezTo>
                      <a:pt x="13122" y="609542"/>
                      <a:pt x="0" y="596420"/>
                      <a:pt x="0" y="580233"/>
                    </a:cubicBezTo>
                    <a:lnTo>
                      <a:pt x="0" y="29309"/>
                    </a:lnTo>
                    <a:cubicBezTo>
                      <a:pt x="0" y="13122"/>
                      <a:pt x="13122" y="0"/>
                      <a:pt x="29309" y="0"/>
                    </a:cubicBezTo>
                    <a:close/>
                  </a:path>
                </a:pathLst>
              </a:custGeom>
              <a:solidFill>
                <a:srgbClr val="FFE88D">
                  <a:alpha val="26667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087077" cy="6571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913360" y="0"/>
              <a:ext cx="4673571" cy="1719773"/>
              <a:chOff x="0" y="0"/>
              <a:chExt cx="1112907" cy="4095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12906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1112906" h="409526">
                    <a:moveTo>
                      <a:pt x="66261" y="0"/>
                    </a:moveTo>
                    <a:lnTo>
                      <a:pt x="1046645" y="0"/>
                    </a:lnTo>
                    <a:cubicBezTo>
                      <a:pt x="1083240" y="0"/>
                      <a:pt x="1112906" y="29666"/>
                      <a:pt x="1112906" y="66261"/>
                    </a:cubicBezTo>
                    <a:lnTo>
                      <a:pt x="1112906" y="343264"/>
                    </a:lnTo>
                    <a:cubicBezTo>
                      <a:pt x="1112906" y="379859"/>
                      <a:pt x="1083240" y="409526"/>
                      <a:pt x="1046645" y="409526"/>
                    </a:cubicBezTo>
                    <a:lnTo>
                      <a:pt x="66261" y="409526"/>
                    </a:lnTo>
                    <a:cubicBezTo>
                      <a:pt x="29666" y="409526"/>
                      <a:pt x="0" y="379859"/>
                      <a:pt x="0" y="343264"/>
                    </a:cubicBezTo>
                    <a:lnTo>
                      <a:pt x="0" y="66261"/>
                    </a:lnTo>
                    <a:cubicBezTo>
                      <a:pt x="0" y="29666"/>
                      <a:pt x="29666" y="0"/>
                      <a:pt x="66261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112907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811190" y="380965"/>
              <a:ext cx="2877911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資料收集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9272" y="2016494"/>
              <a:ext cx="9581746" cy="2602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73"/>
                </a:lnSpc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人工統計「Mojoin線上漫畫、小說平台」中的「小說」部分直至民國114年2月28日以前之書籍內容，並建立Excel表格以利後續使用。</a:t>
              </a:r>
            </a:p>
            <a:p>
              <a:pPr algn="just">
                <a:lnSpc>
                  <a:spcPts val="3973"/>
                </a:lnSpc>
              </a:pPr>
              <a:endParaRPr lang="en-US" sz="2838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5" name="AutoShape 35"/>
          <p:cNvSpPr/>
          <p:nvPr/>
        </p:nvSpPr>
        <p:spPr>
          <a:xfrm flipH="1" flipV="1">
            <a:off x="2930613" y="6696904"/>
            <a:ext cx="5999037" cy="7675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887521" y="5566298"/>
            <a:ext cx="5187197" cy="3455095"/>
            <a:chOff x="0" y="0"/>
            <a:chExt cx="6916263" cy="4606794"/>
          </a:xfrm>
        </p:grpSpPr>
        <p:grpSp>
          <p:nvGrpSpPr>
            <p:cNvPr id="37" name="Group 37"/>
            <p:cNvGrpSpPr/>
            <p:nvPr/>
          </p:nvGrpSpPr>
          <p:grpSpPr>
            <a:xfrm>
              <a:off x="93021" y="1379731"/>
              <a:ext cx="6679874" cy="3085807"/>
              <a:chOff x="0" y="0"/>
              <a:chExt cx="1319481" cy="60954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19481" cy="609542"/>
              </a:xfrm>
              <a:custGeom>
                <a:avLst/>
                <a:gdLst/>
                <a:ahLst/>
                <a:cxnLst/>
                <a:rect l="l" t="t" r="r" b="b"/>
                <a:pathLst>
                  <a:path w="1319481" h="609542">
                    <a:moveTo>
                      <a:pt x="46360" y="0"/>
                    </a:moveTo>
                    <a:lnTo>
                      <a:pt x="1273122" y="0"/>
                    </a:lnTo>
                    <a:cubicBezTo>
                      <a:pt x="1298725" y="0"/>
                      <a:pt x="1319481" y="20756"/>
                      <a:pt x="1319481" y="46360"/>
                    </a:cubicBezTo>
                    <a:lnTo>
                      <a:pt x="1319481" y="563182"/>
                    </a:lnTo>
                    <a:cubicBezTo>
                      <a:pt x="1319481" y="575478"/>
                      <a:pt x="1314597" y="587270"/>
                      <a:pt x="1305903" y="595964"/>
                    </a:cubicBezTo>
                    <a:cubicBezTo>
                      <a:pt x="1297209" y="604658"/>
                      <a:pt x="1285417" y="609542"/>
                      <a:pt x="1273122" y="609542"/>
                    </a:cubicBezTo>
                    <a:lnTo>
                      <a:pt x="46360" y="609542"/>
                    </a:lnTo>
                    <a:cubicBezTo>
                      <a:pt x="20756" y="609542"/>
                      <a:pt x="0" y="588786"/>
                      <a:pt x="0" y="563182"/>
                    </a:cubicBezTo>
                    <a:lnTo>
                      <a:pt x="0" y="46360"/>
                    </a:lnTo>
                    <a:cubicBezTo>
                      <a:pt x="0" y="20756"/>
                      <a:pt x="20756" y="0"/>
                      <a:pt x="46360" y="0"/>
                    </a:cubicBezTo>
                    <a:close/>
                  </a:path>
                </a:pathLst>
              </a:custGeom>
              <a:solidFill>
                <a:srgbClr val="F7E49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1319481" cy="6571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52392" y="1520987"/>
              <a:ext cx="6763871" cy="3085807"/>
              <a:chOff x="0" y="0"/>
              <a:chExt cx="1336073" cy="60954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336073" cy="609542"/>
              </a:xfrm>
              <a:custGeom>
                <a:avLst/>
                <a:gdLst/>
                <a:ahLst/>
                <a:cxnLst/>
                <a:rect l="l" t="t" r="r" b="b"/>
                <a:pathLst>
                  <a:path w="1336073" h="609542">
                    <a:moveTo>
                      <a:pt x="45784" y="0"/>
                    </a:moveTo>
                    <a:lnTo>
                      <a:pt x="1290289" y="0"/>
                    </a:lnTo>
                    <a:cubicBezTo>
                      <a:pt x="1302432" y="0"/>
                      <a:pt x="1314077" y="4824"/>
                      <a:pt x="1322663" y="13410"/>
                    </a:cubicBezTo>
                    <a:cubicBezTo>
                      <a:pt x="1331250" y="21996"/>
                      <a:pt x="1336073" y="33641"/>
                      <a:pt x="1336073" y="45784"/>
                    </a:cubicBezTo>
                    <a:lnTo>
                      <a:pt x="1336073" y="563758"/>
                    </a:lnTo>
                    <a:cubicBezTo>
                      <a:pt x="1336073" y="575901"/>
                      <a:pt x="1331250" y="587546"/>
                      <a:pt x="1322663" y="596132"/>
                    </a:cubicBezTo>
                    <a:cubicBezTo>
                      <a:pt x="1314077" y="604718"/>
                      <a:pt x="1302432" y="609542"/>
                      <a:pt x="1290289" y="609542"/>
                    </a:cubicBezTo>
                    <a:lnTo>
                      <a:pt x="45784" y="609542"/>
                    </a:lnTo>
                    <a:cubicBezTo>
                      <a:pt x="33641" y="609542"/>
                      <a:pt x="21996" y="604718"/>
                      <a:pt x="13410" y="596132"/>
                    </a:cubicBezTo>
                    <a:cubicBezTo>
                      <a:pt x="4824" y="587546"/>
                      <a:pt x="0" y="575901"/>
                      <a:pt x="0" y="563758"/>
                    </a:cubicBezTo>
                    <a:lnTo>
                      <a:pt x="0" y="45784"/>
                    </a:lnTo>
                    <a:cubicBezTo>
                      <a:pt x="0" y="33641"/>
                      <a:pt x="4824" y="21996"/>
                      <a:pt x="13410" y="13410"/>
                    </a:cubicBezTo>
                    <a:cubicBezTo>
                      <a:pt x="21996" y="4824"/>
                      <a:pt x="33641" y="0"/>
                      <a:pt x="45784" y="0"/>
                    </a:cubicBezTo>
                    <a:close/>
                  </a:path>
                </a:pathLst>
              </a:custGeom>
              <a:solidFill>
                <a:srgbClr val="FFE88D">
                  <a:alpha val="26667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336073" cy="6571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0"/>
              <a:ext cx="6916263" cy="1719773"/>
              <a:chOff x="0" y="0"/>
              <a:chExt cx="1646954" cy="4095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46954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1646954" h="409526">
                    <a:moveTo>
                      <a:pt x="44775" y="0"/>
                    </a:moveTo>
                    <a:lnTo>
                      <a:pt x="1602179" y="0"/>
                    </a:lnTo>
                    <a:cubicBezTo>
                      <a:pt x="1626907" y="0"/>
                      <a:pt x="1646954" y="20047"/>
                      <a:pt x="1646954" y="44775"/>
                    </a:cubicBezTo>
                    <a:lnTo>
                      <a:pt x="1646954" y="364750"/>
                    </a:lnTo>
                    <a:cubicBezTo>
                      <a:pt x="1646954" y="389479"/>
                      <a:pt x="1626907" y="409526"/>
                      <a:pt x="1602179" y="409526"/>
                    </a:cubicBezTo>
                    <a:lnTo>
                      <a:pt x="44775" y="409526"/>
                    </a:lnTo>
                    <a:cubicBezTo>
                      <a:pt x="20047" y="409526"/>
                      <a:pt x="0" y="389479"/>
                      <a:pt x="0" y="364750"/>
                    </a:cubicBezTo>
                    <a:lnTo>
                      <a:pt x="0" y="44775"/>
                    </a:lnTo>
                    <a:cubicBezTo>
                      <a:pt x="0" y="20047"/>
                      <a:pt x="20047" y="0"/>
                      <a:pt x="44775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46954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1328669" y="380965"/>
              <a:ext cx="4258925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系統設計工具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021" y="2004160"/>
              <a:ext cx="6363970" cy="2602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資料庫開發工具：MySQL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系統設計工具：Flask、Python、HTML、CSS</a:t>
              </a:r>
            </a:p>
            <a:p>
              <a:pPr algn="just">
                <a:lnSpc>
                  <a:spcPts val="3973"/>
                </a:lnSpc>
              </a:pPr>
              <a:endParaRPr lang="en-US" sz="2838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92775" y="6696904"/>
            <a:ext cx="5117432" cy="3418018"/>
            <a:chOff x="0" y="0"/>
            <a:chExt cx="6823242" cy="4557357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1050698"/>
              <a:ext cx="6679874" cy="3280113"/>
              <a:chOff x="0" y="0"/>
              <a:chExt cx="1319481" cy="6479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319481" cy="647923"/>
              </a:xfrm>
              <a:custGeom>
                <a:avLst/>
                <a:gdLst/>
                <a:ahLst/>
                <a:cxnLst/>
                <a:rect l="l" t="t" r="r" b="b"/>
                <a:pathLst>
                  <a:path w="1319481" h="647923">
                    <a:moveTo>
                      <a:pt x="46360" y="0"/>
                    </a:moveTo>
                    <a:lnTo>
                      <a:pt x="1273122" y="0"/>
                    </a:lnTo>
                    <a:cubicBezTo>
                      <a:pt x="1298725" y="0"/>
                      <a:pt x="1319481" y="20756"/>
                      <a:pt x="1319481" y="46360"/>
                    </a:cubicBezTo>
                    <a:lnTo>
                      <a:pt x="1319481" y="601564"/>
                    </a:lnTo>
                    <a:cubicBezTo>
                      <a:pt x="1319481" y="613859"/>
                      <a:pt x="1314597" y="625651"/>
                      <a:pt x="1305903" y="634345"/>
                    </a:cubicBezTo>
                    <a:cubicBezTo>
                      <a:pt x="1297209" y="643039"/>
                      <a:pt x="1285417" y="647923"/>
                      <a:pt x="1273122" y="647923"/>
                    </a:cubicBezTo>
                    <a:lnTo>
                      <a:pt x="46360" y="647923"/>
                    </a:lnTo>
                    <a:cubicBezTo>
                      <a:pt x="20756" y="647923"/>
                      <a:pt x="0" y="627168"/>
                      <a:pt x="0" y="601564"/>
                    </a:cubicBezTo>
                    <a:lnTo>
                      <a:pt x="0" y="46360"/>
                    </a:lnTo>
                    <a:cubicBezTo>
                      <a:pt x="0" y="20756"/>
                      <a:pt x="20756" y="0"/>
                      <a:pt x="46360" y="0"/>
                    </a:cubicBezTo>
                    <a:close/>
                  </a:path>
                </a:pathLst>
              </a:custGeom>
              <a:solidFill>
                <a:srgbClr val="F7E49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319481" cy="695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9371" y="1200847"/>
              <a:ext cx="6763871" cy="3280113"/>
              <a:chOff x="0" y="0"/>
              <a:chExt cx="1336073" cy="6479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336073" cy="647923"/>
              </a:xfrm>
              <a:custGeom>
                <a:avLst/>
                <a:gdLst/>
                <a:ahLst/>
                <a:cxnLst/>
                <a:rect l="l" t="t" r="r" b="b"/>
                <a:pathLst>
                  <a:path w="1336073" h="647923">
                    <a:moveTo>
                      <a:pt x="45784" y="0"/>
                    </a:moveTo>
                    <a:lnTo>
                      <a:pt x="1290289" y="0"/>
                    </a:lnTo>
                    <a:cubicBezTo>
                      <a:pt x="1302432" y="0"/>
                      <a:pt x="1314077" y="4824"/>
                      <a:pt x="1322663" y="13410"/>
                    </a:cubicBezTo>
                    <a:cubicBezTo>
                      <a:pt x="1331250" y="21996"/>
                      <a:pt x="1336073" y="33641"/>
                      <a:pt x="1336073" y="45784"/>
                    </a:cubicBezTo>
                    <a:lnTo>
                      <a:pt x="1336073" y="602140"/>
                    </a:lnTo>
                    <a:cubicBezTo>
                      <a:pt x="1336073" y="614282"/>
                      <a:pt x="1331250" y="625928"/>
                      <a:pt x="1322663" y="634514"/>
                    </a:cubicBezTo>
                    <a:cubicBezTo>
                      <a:pt x="1314077" y="643100"/>
                      <a:pt x="1302432" y="647923"/>
                      <a:pt x="1290289" y="647923"/>
                    </a:cubicBezTo>
                    <a:lnTo>
                      <a:pt x="45784" y="647923"/>
                    </a:lnTo>
                    <a:cubicBezTo>
                      <a:pt x="33641" y="647923"/>
                      <a:pt x="21996" y="643100"/>
                      <a:pt x="13410" y="634514"/>
                    </a:cubicBezTo>
                    <a:cubicBezTo>
                      <a:pt x="4824" y="625928"/>
                      <a:pt x="0" y="614282"/>
                      <a:pt x="0" y="602140"/>
                    </a:cubicBezTo>
                    <a:lnTo>
                      <a:pt x="0" y="45784"/>
                    </a:lnTo>
                    <a:cubicBezTo>
                      <a:pt x="0" y="33641"/>
                      <a:pt x="4824" y="21996"/>
                      <a:pt x="13410" y="13410"/>
                    </a:cubicBezTo>
                    <a:cubicBezTo>
                      <a:pt x="21996" y="4824"/>
                      <a:pt x="33641" y="0"/>
                      <a:pt x="45784" y="0"/>
                    </a:cubicBezTo>
                    <a:close/>
                  </a:path>
                </a:pathLst>
              </a:custGeom>
              <a:solidFill>
                <a:srgbClr val="FFE88D">
                  <a:alpha val="26667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1336073" cy="6955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091087" y="0"/>
              <a:ext cx="4641068" cy="1719773"/>
              <a:chOff x="0" y="0"/>
              <a:chExt cx="1105167" cy="4095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05167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1105167" h="409526">
                    <a:moveTo>
                      <a:pt x="66725" y="0"/>
                    </a:moveTo>
                    <a:lnTo>
                      <a:pt x="1038441" y="0"/>
                    </a:lnTo>
                    <a:cubicBezTo>
                      <a:pt x="1056138" y="0"/>
                      <a:pt x="1073110" y="7030"/>
                      <a:pt x="1085623" y="19543"/>
                    </a:cubicBezTo>
                    <a:cubicBezTo>
                      <a:pt x="1098137" y="32057"/>
                      <a:pt x="1105167" y="49029"/>
                      <a:pt x="1105167" y="66725"/>
                    </a:cubicBezTo>
                    <a:lnTo>
                      <a:pt x="1105167" y="342800"/>
                    </a:lnTo>
                    <a:cubicBezTo>
                      <a:pt x="1105167" y="360497"/>
                      <a:pt x="1098137" y="377469"/>
                      <a:pt x="1085623" y="389982"/>
                    </a:cubicBezTo>
                    <a:cubicBezTo>
                      <a:pt x="1073110" y="402496"/>
                      <a:pt x="1056138" y="409526"/>
                      <a:pt x="1038441" y="409526"/>
                    </a:cubicBezTo>
                    <a:lnTo>
                      <a:pt x="66725" y="409526"/>
                    </a:lnTo>
                    <a:cubicBezTo>
                      <a:pt x="49029" y="409526"/>
                      <a:pt x="32057" y="402496"/>
                      <a:pt x="19543" y="389982"/>
                    </a:cubicBezTo>
                    <a:cubicBezTo>
                      <a:pt x="7030" y="377469"/>
                      <a:pt x="0" y="360497"/>
                      <a:pt x="0" y="342800"/>
                    </a:cubicBezTo>
                    <a:lnTo>
                      <a:pt x="0" y="66725"/>
                    </a:lnTo>
                    <a:cubicBezTo>
                      <a:pt x="0" y="49029"/>
                      <a:pt x="7030" y="32057"/>
                      <a:pt x="19543" y="19543"/>
                    </a:cubicBezTo>
                    <a:cubicBezTo>
                      <a:pt x="32057" y="7030"/>
                      <a:pt x="49029" y="0"/>
                      <a:pt x="66725" y="0"/>
                    </a:cubicBezTo>
                    <a:close/>
                  </a:path>
                </a:pathLst>
              </a:custGeom>
              <a:solidFill>
                <a:srgbClr val="5B7AB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105167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982673" y="380965"/>
              <a:ext cx="2857896" cy="925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6"/>
                </a:lnSpc>
              </a:pPr>
              <a:r>
                <a:rPr lang="en-US" sz="4147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使用對象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12864" y="1954723"/>
              <a:ext cx="5713914" cy="2602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一般用戶：享有較符合個人喜好的推薦內容</a:t>
              </a:r>
            </a:p>
            <a:p>
              <a:pPr marL="612739" lvl="1" indent="-306369" algn="just">
                <a:lnSpc>
                  <a:spcPts val="3973"/>
                </a:lnSpc>
                <a:buFont typeface="Arial"/>
                <a:buChar char="•"/>
              </a:pPr>
              <a:r>
                <a:rPr lang="en-US" sz="2838">
                  <a:solidFill>
                    <a:srgbClr val="2D226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網站管理者：小說登錄</a:t>
              </a:r>
            </a:p>
            <a:p>
              <a:pPr algn="just">
                <a:lnSpc>
                  <a:spcPts val="3973"/>
                </a:lnSpc>
              </a:pPr>
              <a:endParaRPr lang="en-US" sz="2838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60" name="Freeform 60"/>
          <p:cNvSpPr/>
          <p:nvPr/>
        </p:nvSpPr>
        <p:spPr>
          <a:xfrm>
            <a:off x="13224557" y="7293845"/>
            <a:ext cx="4743662" cy="2621951"/>
          </a:xfrm>
          <a:custGeom>
            <a:avLst/>
            <a:gdLst/>
            <a:ahLst/>
            <a:cxnLst/>
            <a:rect l="l" t="t" r="r" b="b"/>
            <a:pathLst>
              <a:path w="4743662" h="2621951">
                <a:moveTo>
                  <a:pt x="0" y="0"/>
                </a:moveTo>
                <a:lnTo>
                  <a:pt x="4743662" y="0"/>
                </a:lnTo>
                <a:lnTo>
                  <a:pt x="4743662" y="2621952"/>
                </a:lnTo>
                <a:lnTo>
                  <a:pt x="0" y="262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1" name="TextBox 61"/>
          <p:cNvSpPr txBox="1"/>
          <p:nvPr/>
        </p:nvSpPr>
        <p:spPr>
          <a:xfrm>
            <a:off x="6250141" y="534728"/>
            <a:ext cx="5787718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系統分析與設計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728845" y="1943361"/>
            <a:ext cx="14830310" cy="8342049"/>
          </a:xfrm>
          <a:custGeom>
            <a:avLst/>
            <a:gdLst/>
            <a:ahLst/>
            <a:cxnLst/>
            <a:rect l="l" t="t" r="r" b="b"/>
            <a:pathLst>
              <a:path w="14830310" h="8342049">
                <a:moveTo>
                  <a:pt x="0" y="0"/>
                </a:moveTo>
                <a:lnTo>
                  <a:pt x="14830310" y="0"/>
                </a:lnTo>
                <a:lnTo>
                  <a:pt x="14830310" y="8342050"/>
                </a:lnTo>
                <a:lnTo>
                  <a:pt x="0" y="8342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81073" y="536317"/>
            <a:ext cx="5787718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資料庫邏輯設計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68791" y="731866"/>
            <a:ext cx="4538136" cy="77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7"/>
              </a:lnSpc>
            </a:pPr>
            <a:r>
              <a:rPr lang="en-US" sz="4901" b="1">
                <a:solidFill>
                  <a:srgbClr val="5880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E-R 關係圖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728845" y="1724286"/>
            <a:ext cx="15118967" cy="0"/>
          </a:xfrm>
          <a:prstGeom prst="line">
            <a:avLst/>
          </a:prstGeom>
          <a:ln w="38100" cap="flat">
            <a:solidFill>
              <a:srgbClr val="000000">
                <a:alpha val="61961"/>
              </a:srgbClr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584517" y="1724286"/>
            <a:ext cx="15118967" cy="8504419"/>
          </a:xfrm>
          <a:custGeom>
            <a:avLst/>
            <a:gdLst/>
            <a:ahLst/>
            <a:cxnLst/>
            <a:rect l="l" t="t" r="r" b="b"/>
            <a:pathLst>
              <a:path w="15118967" h="8504419">
                <a:moveTo>
                  <a:pt x="0" y="0"/>
                </a:moveTo>
                <a:lnTo>
                  <a:pt x="15118966" y="0"/>
                </a:lnTo>
                <a:lnTo>
                  <a:pt x="15118966" y="8504419"/>
                </a:lnTo>
                <a:lnTo>
                  <a:pt x="0" y="8504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1728845" y="1724286"/>
            <a:ext cx="15118967" cy="0"/>
          </a:xfrm>
          <a:prstGeom prst="line">
            <a:avLst/>
          </a:prstGeom>
          <a:ln w="38100" cap="flat">
            <a:solidFill>
              <a:srgbClr val="000000">
                <a:alpha val="61961"/>
              </a:srgbClr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3981073" y="536317"/>
            <a:ext cx="5787718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資料庫邏輯設計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68791" y="731866"/>
            <a:ext cx="4950051" cy="154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7"/>
              </a:lnSpc>
            </a:pPr>
            <a:r>
              <a:rPr lang="en-US" sz="4901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E-R圖轉換關聯表</a:t>
            </a:r>
          </a:p>
          <a:p>
            <a:pPr algn="l">
              <a:lnSpc>
                <a:spcPts val="6097"/>
              </a:lnSpc>
            </a:pPr>
            <a:endParaRPr lang="en-US" sz="4901" b="1">
              <a:solidFill>
                <a:srgbClr val="5E17EB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319220" y="3209333"/>
            <a:ext cx="4654258" cy="4319221"/>
          </a:xfrm>
          <a:custGeom>
            <a:avLst/>
            <a:gdLst/>
            <a:ahLst/>
            <a:cxnLst/>
            <a:rect l="l" t="t" r="r" b="b"/>
            <a:pathLst>
              <a:path w="4654258" h="4319221">
                <a:moveTo>
                  <a:pt x="0" y="0"/>
                </a:moveTo>
                <a:lnTo>
                  <a:pt x="4654257" y="0"/>
                </a:lnTo>
                <a:lnTo>
                  <a:pt x="4654257" y="4319221"/>
                </a:lnTo>
                <a:lnTo>
                  <a:pt x="0" y="4319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22722" b="-349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0651343" y="2983889"/>
            <a:ext cx="7295121" cy="4770108"/>
          </a:xfrm>
          <a:custGeom>
            <a:avLst/>
            <a:gdLst/>
            <a:ahLst/>
            <a:cxnLst/>
            <a:rect l="l" t="t" r="r" b="b"/>
            <a:pathLst>
              <a:path w="7295121" h="4770108">
                <a:moveTo>
                  <a:pt x="0" y="0"/>
                </a:moveTo>
                <a:lnTo>
                  <a:pt x="7295121" y="0"/>
                </a:lnTo>
                <a:lnTo>
                  <a:pt x="7295121" y="4770108"/>
                </a:lnTo>
                <a:lnTo>
                  <a:pt x="0" y="47701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929" t="-28186" r="-79176" b="-60300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5973477" y="645182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96009" y="2040287"/>
            <a:ext cx="169598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novel</a:t>
            </a:r>
          </a:p>
        </p:txBody>
      </p:sp>
      <p:sp>
        <p:nvSpPr>
          <p:cNvPr id="12" name="Freeform 12"/>
          <p:cNvSpPr/>
          <p:nvPr/>
        </p:nvSpPr>
        <p:spPr>
          <a:xfrm>
            <a:off x="6743048" y="4673729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2"/>
                </a:lnTo>
                <a:lnTo>
                  <a:pt x="0" y="93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51640" y="3216786"/>
            <a:ext cx="4608065" cy="2052331"/>
          </a:xfrm>
          <a:custGeom>
            <a:avLst/>
            <a:gdLst/>
            <a:ahLst/>
            <a:cxnLst/>
            <a:rect l="l" t="t" r="r" b="b"/>
            <a:pathLst>
              <a:path w="4608065" h="2052331">
                <a:moveTo>
                  <a:pt x="0" y="0"/>
                </a:moveTo>
                <a:lnTo>
                  <a:pt x="4608064" y="0"/>
                </a:lnTo>
                <a:lnTo>
                  <a:pt x="4608064" y="2052332"/>
                </a:lnTo>
                <a:lnTo>
                  <a:pt x="0" y="205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193" t="-79385" r="-253766" b="-366167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1351640" y="7092736"/>
            <a:ext cx="4517099" cy="1941232"/>
          </a:xfrm>
          <a:custGeom>
            <a:avLst/>
            <a:gdLst/>
            <a:ahLst/>
            <a:cxnLst/>
            <a:rect l="l" t="t" r="r" b="b"/>
            <a:pathLst>
              <a:path w="4517099" h="1941232">
                <a:moveTo>
                  <a:pt x="0" y="0"/>
                </a:moveTo>
                <a:lnTo>
                  <a:pt x="4517098" y="0"/>
                </a:lnTo>
                <a:lnTo>
                  <a:pt x="4517098" y="1941233"/>
                </a:lnTo>
                <a:lnTo>
                  <a:pt x="0" y="1941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9105" t="-237819" r="-253240" b="-228075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2584866" y="3159089"/>
            <a:ext cx="3924712" cy="2193938"/>
          </a:xfrm>
          <a:custGeom>
            <a:avLst/>
            <a:gdLst/>
            <a:ahLst/>
            <a:cxnLst/>
            <a:rect l="l" t="t" r="r" b="b"/>
            <a:pathLst>
              <a:path w="3924712" h="2193938">
                <a:moveTo>
                  <a:pt x="0" y="0"/>
                </a:moveTo>
                <a:lnTo>
                  <a:pt x="3924711" y="0"/>
                </a:lnTo>
                <a:lnTo>
                  <a:pt x="3924711" y="2193939"/>
                </a:lnTo>
                <a:lnTo>
                  <a:pt x="0" y="21939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7709" t="-96931" r="-2891" b="-12567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2450792" y="7115153"/>
            <a:ext cx="4192860" cy="1998922"/>
          </a:xfrm>
          <a:custGeom>
            <a:avLst/>
            <a:gdLst/>
            <a:ahLst/>
            <a:cxnLst/>
            <a:rect l="l" t="t" r="r" b="b"/>
            <a:pathLst>
              <a:path w="4192860" h="1998922">
                <a:moveTo>
                  <a:pt x="0" y="0"/>
                </a:moveTo>
                <a:lnTo>
                  <a:pt x="4192859" y="0"/>
                </a:lnTo>
                <a:lnTo>
                  <a:pt x="4192859" y="1998921"/>
                </a:lnTo>
                <a:lnTo>
                  <a:pt x="0" y="19989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6989" t="-210142" r="-61866" b="-42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7377648" y="3786288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5973477" y="645182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76615" y="1914148"/>
            <a:ext cx="1946340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author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2400" y="5538922"/>
            <a:ext cx="2134770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publish</a:t>
            </a:r>
          </a:p>
        </p:txBody>
      </p:sp>
      <p:sp>
        <p:nvSpPr>
          <p:cNvPr id="16" name="Freeform 16"/>
          <p:cNvSpPr/>
          <p:nvPr/>
        </p:nvSpPr>
        <p:spPr>
          <a:xfrm>
            <a:off x="7444685" y="7413744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263680" y="5243254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1278392" y="4810331"/>
            <a:ext cx="6527136" cy="1913126"/>
          </a:xfrm>
          <a:custGeom>
            <a:avLst/>
            <a:gdLst/>
            <a:ahLst/>
            <a:cxnLst/>
            <a:rect l="l" t="t" r="r" b="b"/>
            <a:pathLst>
              <a:path w="6527136" h="1913126">
                <a:moveTo>
                  <a:pt x="0" y="0"/>
                </a:moveTo>
                <a:lnTo>
                  <a:pt x="6527136" y="0"/>
                </a:lnTo>
                <a:lnTo>
                  <a:pt x="6527136" y="1913126"/>
                </a:lnTo>
                <a:lnTo>
                  <a:pt x="0" y="1913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2161" t="-84408" r="-40221" b="-37670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028700" y="4309511"/>
            <a:ext cx="5330105" cy="2807028"/>
          </a:xfrm>
          <a:custGeom>
            <a:avLst/>
            <a:gdLst/>
            <a:ahLst/>
            <a:cxnLst/>
            <a:rect l="l" t="t" r="r" b="b"/>
            <a:pathLst>
              <a:path w="5330105" h="2807028">
                <a:moveTo>
                  <a:pt x="0" y="0"/>
                </a:moveTo>
                <a:lnTo>
                  <a:pt x="5330105" y="0"/>
                </a:lnTo>
                <a:lnTo>
                  <a:pt x="5330105" y="2807028"/>
                </a:lnTo>
                <a:lnTo>
                  <a:pt x="0" y="28070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938" t="-198084" r="-1621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5973477" y="645182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61554" y="3031676"/>
            <a:ext cx="964893" cy="70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375468" y="3473304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7375468" y="6943973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2013176" y="2804836"/>
            <a:ext cx="5418016" cy="2276477"/>
          </a:xfrm>
          <a:custGeom>
            <a:avLst/>
            <a:gdLst/>
            <a:ahLst/>
            <a:cxnLst/>
            <a:rect l="l" t="t" r="r" b="b"/>
            <a:pathLst>
              <a:path w="5418016" h="2276477">
                <a:moveTo>
                  <a:pt x="0" y="0"/>
                </a:moveTo>
                <a:lnTo>
                  <a:pt x="5418016" y="0"/>
                </a:lnTo>
                <a:lnTo>
                  <a:pt x="5418016" y="2276477"/>
                </a:lnTo>
                <a:lnTo>
                  <a:pt x="0" y="22764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0250" t="-239659" r="-105056" b="-229718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2013176" y="6303690"/>
            <a:ext cx="5366756" cy="2220107"/>
          </a:xfrm>
          <a:custGeom>
            <a:avLst/>
            <a:gdLst/>
            <a:ahLst/>
            <a:cxnLst/>
            <a:rect l="l" t="t" r="r" b="b"/>
            <a:pathLst>
              <a:path w="5366756" h="2220107">
                <a:moveTo>
                  <a:pt x="0" y="0"/>
                </a:moveTo>
                <a:lnTo>
                  <a:pt x="5366757" y="0"/>
                </a:lnTo>
                <a:lnTo>
                  <a:pt x="5366757" y="2220107"/>
                </a:lnTo>
                <a:lnTo>
                  <a:pt x="0" y="22201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26515" t="-252577" r="-109640" b="-240486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1540619" y="2658383"/>
            <a:ext cx="4339122" cy="2569382"/>
          </a:xfrm>
          <a:custGeom>
            <a:avLst/>
            <a:gdLst/>
            <a:ahLst/>
            <a:cxnLst/>
            <a:rect l="l" t="t" r="r" b="b"/>
            <a:pathLst>
              <a:path w="4339122" h="2569382">
                <a:moveTo>
                  <a:pt x="0" y="0"/>
                </a:moveTo>
                <a:lnTo>
                  <a:pt x="4339122" y="0"/>
                </a:lnTo>
                <a:lnTo>
                  <a:pt x="4339122" y="2569382"/>
                </a:lnTo>
                <a:lnTo>
                  <a:pt x="0" y="2569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6521" r="-22260" b="-17432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540619" y="6365529"/>
            <a:ext cx="4314745" cy="2096430"/>
          </a:xfrm>
          <a:custGeom>
            <a:avLst/>
            <a:gdLst/>
            <a:ahLst/>
            <a:cxnLst/>
            <a:rect l="l" t="t" r="r" b="b"/>
            <a:pathLst>
              <a:path w="4314745" h="2096430">
                <a:moveTo>
                  <a:pt x="0" y="0"/>
                </a:moveTo>
                <a:lnTo>
                  <a:pt x="4314745" y="0"/>
                </a:lnTo>
                <a:lnTo>
                  <a:pt x="4314745" y="2096430"/>
                </a:lnTo>
                <a:lnTo>
                  <a:pt x="0" y="20964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5888" t="-23923" r="-24525" b="-21228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5973477" y="645182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2161" y="1912807"/>
            <a:ext cx="131253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02593" y="5251045"/>
            <a:ext cx="24516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userlove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375468" y="2516646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7375468" y="5400365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2804259" y="4476031"/>
            <a:ext cx="3217776" cy="2788209"/>
          </a:xfrm>
          <a:custGeom>
            <a:avLst/>
            <a:gdLst/>
            <a:ahLst/>
            <a:cxnLst/>
            <a:rect l="l" t="t" r="r" b="b"/>
            <a:pathLst>
              <a:path w="3217776" h="2788209">
                <a:moveTo>
                  <a:pt x="0" y="0"/>
                </a:moveTo>
                <a:lnTo>
                  <a:pt x="3217777" y="0"/>
                </a:lnTo>
                <a:lnTo>
                  <a:pt x="3217777" y="2788210"/>
                </a:lnTo>
                <a:lnTo>
                  <a:pt x="0" y="27882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1683" t="-84434" r="-67734" b="-683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3514996" y="178560"/>
            <a:ext cx="1796302" cy="4095352"/>
          </a:xfrm>
          <a:custGeom>
            <a:avLst/>
            <a:gdLst/>
            <a:ahLst/>
            <a:cxnLst/>
            <a:rect l="l" t="t" r="r" b="b"/>
            <a:pathLst>
              <a:path w="1796302" h="4095352">
                <a:moveTo>
                  <a:pt x="0" y="0"/>
                </a:moveTo>
                <a:lnTo>
                  <a:pt x="1796303" y="0"/>
                </a:lnTo>
                <a:lnTo>
                  <a:pt x="1796303" y="4095351"/>
                </a:lnTo>
                <a:lnTo>
                  <a:pt x="0" y="40953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8043" t="-58079" r="-399535" b="-1402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2086152" y="7095128"/>
            <a:ext cx="4558516" cy="3022759"/>
          </a:xfrm>
          <a:custGeom>
            <a:avLst/>
            <a:gdLst/>
            <a:ahLst/>
            <a:cxnLst/>
            <a:rect l="l" t="t" r="r" b="b"/>
            <a:pathLst>
              <a:path w="4558516" h="3022759">
                <a:moveTo>
                  <a:pt x="0" y="0"/>
                </a:moveTo>
                <a:lnTo>
                  <a:pt x="4558516" y="0"/>
                </a:lnTo>
                <a:lnTo>
                  <a:pt x="4558516" y="3022759"/>
                </a:lnTo>
                <a:lnTo>
                  <a:pt x="0" y="3022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7498" t="-6108" r="-87385" b="-12707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>
            <a:off x="11678465" y="2226235"/>
            <a:ext cx="3874199" cy="1748532"/>
          </a:xfrm>
          <a:custGeom>
            <a:avLst/>
            <a:gdLst/>
            <a:ahLst/>
            <a:cxnLst/>
            <a:rect l="l" t="t" r="r" b="b"/>
            <a:pathLst>
              <a:path w="3874199" h="1748532">
                <a:moveTo>
                  <a:pt x="0" y="0"/>
                </a:moveTo>
                <a:lnTo>
                  <a:pt x="3874199" y="0"/>
                </a:lnTo>
                <a:lnTo>
                  <a:pt x="3874199" y="1748533"/>
                </a:lnTo>
                <a:lnTo>
                  <a:pt x="0" y="1748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8298" t="-82338" r="-255900" b="-358812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11236489" y="7824861"/>
            <a:ext cx="5199649" cy="1563293"/>
          </a:xfrm>
          <a:custGeom>
            <a:avLst/>
            <a:gdLst/>
            <a:ahLst/>
            <a:cxnLst/>
            <a:rect l="l" t="t" r="r" b="b"/>
            <a:pathLst>
              <a:path w="5199649" h="1563293">
                <a:moveTo>
                  <a:pt x="0" y="0"/>
                </a:moveTo>
                <a:lnTo>
                  <a:pt x="5199649" y="0"/>
                </a:lnTo>
                <a:lnTo>
                  <a:pt x="5199649" y="1563293"/>
                </a:lnTo>
                <a:lnTo>
                  <a:pt x="0" y="15632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7788" t="-79386" r="-38206" b="-355687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>
            <a:off x="11667259" y="5015347"/>
            <a:ext cx="3885405" cy="1709578"/>
          </a:xfrm>
          <a:custGeom>
            <a:avLst/>
            <a:gdLst/>
            <a:ahLst/>
            <a:cxnLst/>
            <a:rect l="l" t="t" r="r" b="b"/>
            <a:pathLst>
              <a:path w="3885405" h="1709578">
                <a:moveTo>
                  <a:pt x="0" y="0"/>
                </a:moveTo>
                <a:lnTo>
                  <a:pt x="3885405" y="0"/>
                </a:lnTo>
                <a:lnTo>
                  <a:pt x="3885405" y="1709578"/>
                </a:lnTo>
                <a:lnTo>
                  <a:pt x="0" y="17095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5450" t="-227507" r="-247978" b="-213807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5973477" y="646314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74922" y="1594324"/>
            <a:ext cx="2507014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noveltag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15511" y="4264386"/>
            <a:ext cx="122583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</a:t>
            </a:r>
          </a:p>
        </p:txBody>
      </p:sp>
      <p:sp>
        <p:nvSpPr>
          <p:cNvPr id="19" name="Freeform 19"/>
          <p:cNvSpPr/>
          <p:nvPr/>
        </p:nvSpPr>
        <p:spPr>
          <a:xfrm>
            <a:off x="7387618" y="8136737"/>
            <a:ext cx="3105921" cy="939541"/>
          </a:xfrm>
          <a:custGeom>
            <a:avLst/>
            <a:gdLst/>
            <a:ahLst/>
            <a:cxnLst/>
            <a:rect l="l" t="t" r="r" b="b"/>
            <a:pathLst>
              <a:path w="3105921" h="939541">
                <a:moveTo>
                  <a:pt x="0" y="0"/>
                </a:moveTo>
                <a:lnTo>
                  <a:pt x="3105921" y="0"/>
                </a:lnTo>
                <a:lnTo>
                  <a:pt x="3105921" y="939541"/>
                </a:lnTo>
                <a:lnTo>
                  <a:pt x="0" y="939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8271778" y="7050378"/>
            <a:ext cx="1313301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45480">
            <a:off x="-903720" y="-1513927"/>
            <a:ext cx="4888679" cy="3027854"/>
            <a:chOff x="0" y="0"/>
            <a:chExt cx="6518238" cy="4037138"/>
          </a:xfrm>
        </p:grpSpPr>
        <p:sp>
          <p:nvSpPr>
            <p:cNvPr id="3" name="Freeform 3"/>
            <p:cNvSpPr/>
            <p:nvPr/>
          </p:nvSpPr>
          <p:spPr>
            <a:xfrm rot="-226878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4"/>
            <p:cNvSpPr/>
            <p:nvPr/>
          </p:nvSpPr>
          <p:spPr>
            <a:xfrm rot="-226878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0" y="0"/>
                  </a:moveTo>
                  <a:lnTo>
                    <a:pt x="6101522" y="0"/>
                  </a:lnTo>
                  <a:lnTo>
                    <a:pt x="6101522" y="3439040"/>
                  </a:lnTo>
                  <a:lnTo>
                    <a:pt x="0" y="343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98904" y="7260557"/>
            <a:ext cx="5097816" cy="5029049"/>
            <a:chOff x="0" y="0"/>
            <a:chExt cx="6797088" cy="6705399"/>
          </a:xfrm>
        </p:grpSpPr>
        <p:sp>
          <p:nvSpPr>
            <p:cNvPr id="6" name="Freeform 6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7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Freeform 7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04113" y="4770811"/>
            <a:ext cx="2060842" cy="1535137"/>
            <a:chOff x="0" y="0"/>
            <a:chExt cx="2747789" cy="204685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747789" cy="2046850"/>
              <a:chOff x="0" y="0"/>
              <a:chExt cx="549767" cy="4095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9767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549767" h="409526">
                    <a:moveTo>
                      <a:pt x="134134" y="0"/>
                    </a:moveTo>
                    <a:lnTo>
                      <a:pt x="415632" y="0"/>
                    </a:lnTo>
                    <a:cubicBezTo>
                      <a:pt x="451207" y="0"/>
                      <a:pt x="485325" y="14132"/>
                      <a:pt x="510480" y="39287"/>
                    </a:cubicBezTo>
                    <a:cubicBezTo>
                      <a:pt x="535635" y="64442"/>
                      <a:pt x="549767" y="98560"/>
                      <a:pt x="549767" y="134134"/>
                    </a:cubicBezTo>
                    <a:lnTo>
                      <a:pt x="549767" y="275391"/>
                    </a:lnTo>
                    <a:cubicBezTo>
                      <a:pt x="549767" y="310966"/>
                      <a:pt x="535635" y="345083"/>
                      <a:pt x="510480" y="370239"/>
                    </a:cubicBezTo>
                    <a:cubicBezTo>
                      <a:pt x="485325" y="395394"/>
                      <a:pt x="451207" y="409526"/>
                      <a:pt x="415632" y="409526"/>
                    </a:cubicBezTo>
                    <a:lnTo>
                      <a:pt x="134134" y="409526"/>
                    </a:lnTo>
                    <a:cubicBezTo>
                      <a:pt x="98560" y="409526"/>
                      <a:pt x="64442" y="395394"/>
                      <a:pt x="39287" y="370239"/>
                    </a:cubicBezTo>
                    <a:cubicBezTo>
                      <a:pt x="14132" y="345083"/>
                      <a:pt x="0" y="310966"/>
                      <a:pt x="0" y="275391"/>
                    </a:cubicBezTo>
                    <a:lnTo>
                      <a:pt x="0" y="134134"/>
                    </a:lnTo>
                    <a:cubicBezTo>
                      <a:pt x="0" y="98560"/>
                      <a:pt x="14132" y="64442"/>
                      <a:pt x="39287" y="39287"/>
                    </a:cubicBezTo>
                    <a:cubicBezTo>
                      <a:pt x="64442" y="14132"/>
                      <a:pt x="98560" y="0"/>
                      <a:pt x="134134" y="0"/>
                    </a:cubicBezTo>
                    <a:close/>
                  </a:path>
                </a:pathLst>
              </a:custGeom>
              <a:solidFill>
                <a:srgbClr val="5459AC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49767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27872" y="460197"/>
              <a:ext cx="1692045" cy="10941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10"/>
                </a:lnSpc>
              </a:pPr>
              <a:r>
                <a:rPr lang="en-US" sz="4936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1NF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80924" y="3525986"/>
            <a:ext cx="2060842" cy="1513045"/>
            <a:chOff x="0" y="0"/>
            <a:chExt cx="2747789" cy="201739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747789" cy="2017394"/>
              <a:chOff x="0" y="0"/>
              <a:chExt cx="557794" cy="4095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57794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557794" h="409526">
                    <a:moveTo>
                      <a:pt x="132204" y="0"/>
                    </a:moveTo>
                    <a:lnTo>
                      <a:pt x="425590" y="0"/>
                    </a:lnTo>
                    <a:cubicBezTo>
                      <a:pt x="498604" y="0"/>
                      <a:pt x="557794" y="59190"/>
                      <a:pt x="557794" y="132204"/>
                    </a:cubicBezTo>
                    <a:lnTo>
                      <a:pt x="557794" y="277322"/>
                    </a:lnTo>
                    <a:cubicBezTo>
                      <a:pt x="557794" y="350336"/>
                      <a:pt x="498604" y="409526"/>
                      <a:pt x="425590" y="409526"/>
                    </a:cubicBezTo>
                    <a:lnTo>
                      <a:pt x="132204" y="409526"/>
                    </a:lnTo>
                    <a:cubicBezTo>
                      <a:pt x="59190" y="409526"/>
                      <a:pt x="0" y="350336"/>
                      <a:pt x="0" y="277322"/>
                    </a:cubicBezTo>
                    <a:lnTo>
                      <a:pt x="0" y="132204"/>
                    </a:lnTo>
                    <a:cubicBezTo>
                      <a:pt x="0" y="59190"/>
                      <a:pt x="59190" y="0"/>
                      <a:pt x="132204" y="0"/>
                    </a:cubicBezTo>
                    <a:close/>
                  </a:path>
                </a:pathLst>
              </a:custGeom>
              <a:solidFill>
                <a:srgbClr val="648DB3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557794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27872" y="452204"/>
              <a:ext cx="1692045" cy="1079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11"/>
                </a:lnSpc>
              </a:pPr>
              <a:r>
                <a:rPr lang="en-US" sz="4865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2NF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80924" y="6305948"/>
            <a:ext cx="2060842" cy="1513045"/>
            <a:chOff x="0" y="0"/>
            <a:chExt cx="2747789" cy="2017394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747789" cy="2017394"/>
              <a:chOff x="0" y="0"/>
              <a:chExt cx="557794" cy="4095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57794" cy="409526"/>
              </a:xfrm>
              <a:custGeom>
                <a:avLst/>
                <a:gdLst/>
                <a:ahLst/>
                <a:cxnLst/>
                <a:rect l="l" t="t" r="r" b="b"/>
                <a:pathLst>
                  <a:path w="557794" h="409526">
                    <a:moveTo>
                      <a:pt x="132204" y="0"/>
                    </a:moveTo>
                    <a:lnTo>
                      <a:pt x="425590" y="0"/>
                    </a:lnTo>
                    <a:cubicBezTo>
                      <a:pt x="498604" y="0"/>
                      <a:pt x="557794" y="59190"/>
                      <a:pt x="557794" y="132204"/>
                    </a:cubicBezTo>
                    <a:lnTo>
                      <a:pt x="557794" y="277322"/>
                    </a:lnTo>
                    <a:cubicBezTo>
                      <a:pt x="557794" y="350336"/>
                      <a:pt x="498604" y="409526"/>
                      <a:pt x="425590" y="409526"/>
                    </a:cubicBezTo>
                    <a:lnTo>
                      <a:pt x="132204" y="409526"/>
                    </a:lnTo>
                    <a:cubicBezTo>
                      <a:pt x="59190" y="409526"/>
                      <a:pt x="0" y="350336"/>
                      <a:pt x="0" y="277322"/>
                    </a:cubicBezTo>
                    <a:lnTo>
                      <a:pt x="0" y="132204"/>
                    </a:lnTo>
                    <a:cubicBezTo>
                      <a:pt x="0" y="59190"/>
                      <a:pt x="59190" y="0"/>
                      <a:pt x="132204" y="0"/>
                    </a:cubicBezTo>
                    <a:close/>
                  </a:path>
                </a:pathLst>
              </a:custGeom>
              <a:solidFill>
                <a:srgbClr val="B2D8C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557794" cy="457151"/>
              </a:xfrm>
              <a:prstGeom prst="rect">
                <a:avLst/>
              </a:prstGeom>
            </p:spPr>
            <p:txBody>
              <a:bodyPr lIns="42139" tIns="42139" rIns="42139" bIns="42139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527872" y="452204"/>
              <a:ext cx="1692045" cy="1079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11"/>
                </a:lnSpc>
              </a:pPr>
              <a:r>
                <a:rPr lang="en-US" sz="4865" b="1">
                  <a:solidFill>
                    <a:srgbClr val="FBFCFE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3NF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973477" y="645182"/>
            <a:ext cx="6341045" cy="7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4797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關聯表各欄位屬性規劃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34534" y="1742167"/>
            <a:ext cx="3018933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正規化分析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7084" y="3812286"/>
            <a:ext cx="5603154" cy="410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37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關聯表中的每一個屬性其值皆為Atomic Value：符合novel的「系列」為複合屬性，原先為「系列編號．書籍集數」(例：7.8)，因而拆解為「系列(1)」與「系列(2)」</a:t>
            </a:r>
          </a:p>
          <a:p>
            <a:pPr algn="ctr">
              <a:lnSpc>
                <a:spcPts val="4728"/>
              </a:lnSpc>
            </a:pPr>
            <a:endParaRPr lang="en-US" sz="3377">
              <a:solidFill>
                <a:srgbClr val="2D226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553554" y="3358647"/>
            <a:ext cx="3925730" cy="1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關聯表中所有非鍵值屬性皆為完全功能相依於主鍵：符合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53554" y="6239273"/>
            <a:ext cx="3490700" cy="1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關聯表中不存在非鍵值屬性遞移相依於主鍵：符合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314695" y="3446870"/>
            <a:ext cx="6044894" cy="3296084"/>
          </a:xfrm>
          <a:custGeom>
            <a:avLst/>
            <a:gdLst/>
            <a:ahLst/>
            <a:cxnLst/>
            <a:rect l="l" t="t" r="r" b="b"/>
            <a:pathLst>
              <a:path w="6044894" h="3296084">
                <a:moveTo>
                  <a:pt x="0" y="0"/>
                </a:moveTo>
                <a:lnTo>
                  <a:pt x="6044894" y="0"/>
                </a:lnTo>
                <a:lnTo>
                  <a:pt x="6044894" y="3296085"/>
                </a:lnTo>
                <a:lnTo>
                  <a:pt x="0" y="3296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9454006" y="3391772"/>
            <a:ext cx="6400473" cy="6693305"/>
          </a:xfrm>
          <a:custGeom>
            <a:avLst/>
            <a:gdLst/>
            <a:ahLst/>
            <a:cxnLst/>
            <a:rect l="l" t="t" r="r" b="b"/>
            <a:pathLst>
              <a:path w="6400473" h="6693305">
                <a:moveTo>
                  <a:pt x="0" y="0"/>
                </a:moveTo>
                <a:lnTo>
                  <a:pt x="6400473" y="0"/>
                </a:lnTo>
                <a:lnTo>
                  <a:pt x="6400473" y="6693305"/>
                </a:lnTo>
                <a:lnTo>
                  <a:pt x="0" y="66933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4424" y="565367"/>
            <a:ext cx="242447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SQL命令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7275" y="1466687"/>
            <a:ext cx="60334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建立table (table依字母排序)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0032" y="2439642"/>
            <a:ext cx="1643867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author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37534" y="2439642"/>
            <a:ext cx="1333601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944287" y="3924505"/>
            <a:ext cx="7646947" cy="3173483"/>
          </a:xfrm>
          <a:custGeom>
            <a:avLst/>
            <a:gdLst/>
            <a:ahLst/>
            <a:cxnLst/>
            <a:rect l="l" t="t" r="r" b="b"/>
            <a:pathLst>
              <a:path w="7646947" h="3173483">
                <a:moveTo>
                  <a:pt x="0" y="0"/>
                </a:moveTo>
                <a:lnTo>
                  <a:pt x="7646947" y="0"/>
                </a:lnTo>
                <a:lnTo>
                  <a:pt x="7646947" y="3173483"/>
                </a:lnTo>
                <a:lnTo>
                  <a:pt x="0" y="3173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0432537" y="3924505"/>
            <a:ext cx="5496407" cy="3386790"/>
          </a:xfrm>
          <a:custGeom>
            <a:avLst/>
            <a:gdLst/>
            <a:ahLst/>
            <a:cxnLst/>
            <a:rect l="l" t="t" r="r" b="b"/>
            <a:pathLst>
              <a:path w="5496407" h="3386790">
                <a:moveTo>
                  <a:pt x="0" y="0"/>
                </a:moveTo>
                <a:lnTo>
                  <a:pt x="5496407" y="0"/>
                </a:lnTo>
                <a:lnTo>
                  <a:pt x="5496407" y="3386790"/>
                </a:lnTo>
                <a:lnTo>
                  <a:pt x="0" y="3386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4424" y="565367"/>
            <a:ext cx="242447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SQL命令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7275" y="1466687"/>
            <a:ext cx="60334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建立table (table依字母排序)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2750" y="2917276"/>
            <a:ext cx="2094834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noveltag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89576" y="2917276"/>
            <a:ext cx="1684864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publish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427063" y="4077880"/>
            <a:ext cx="7973506" cy="2701188"/>
          </a:xfrm>
          <a:custGeom>
            <a:avLst/>
            <a:gdLst/>
            <a:ahLst/>
            <a:cxnLst/>
            <a:rect l="l" t="t" r="r" b="b"/>
            <a:pathLst>
              <a:path w="7973506" h="2701188">
                <a:moveTo>
                  <a:pt x="0" y="0"/>
                </a:moveTo>
                <a:lnTo>
                  <a:pt x="7973505" y="0"/>
                </a:lnTo>
                <a:lnTo>
                  <a:pt x="7973505" y="2701188"/>
                </a:lnTo>
                <a:lnTo>
                  <a:pt x="0" y="2701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9852369" y="4077880"/>
            <a:ext cx="7628581" cy="3080039"/>
          </a:xfrm>
          <a:custGeom>
            <a:avLst/>
            <a:gdLst/>
            <a:ahLst/>
            <a:cxnLst/>
            <a:rect l="l" t="t" r="r" b="b"/>
            <a:pathLst>
              <a:path w="7628581" h="3080039">
                <a:moveTo>
                  <a:pt x="0" y="0"/>
                </a:moveTo>
                <a:lnTo>
                  <a:pt x="7628580" y="0"/>
                </a:lnTo>
                <a:lnTo>
                  <a:pt x="7628580" y="3080040"/>
                </a:lnTo>
                <a:lnTo>
                  <a:pt x="0" y="30800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4424" y="565367"/>
            <a:ext cx="242447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SQL命令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7275" y="1466687"/>
            <a:ext cx="60334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建立table (table依字母排序)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7398" y="3070651"/>
            <a:ext cx="1131404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74223" y="3070651"/>
            <a:ext cx="1008413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732343" y="3911952"/>
            <a:ext cx="5252918" cy="3590978"/>
          </a:xfrm>
          <a:custGeom>
            <a:avLst/>
            <a:gdLst/>
            <a:ahLst/>
            <a:cxnLst/>
            <a:rect l="l" t="t" r="r" b="b"/>
            <a:pathLst>
              <a:path w="5252918" h="3590978">
                <a:moveTo>
                  <a:pt x="0" y="0"/>
                </a:moveTo>
                <a:lnTo>
                  <a:pt x="5252918" y="0"/>
                </a:lnTo>
                <a:lnTo>
                  <a:pt x="5252918" y="3590978"/>
                </a:lnTo>
                <a:lnTo>
                  <a:pt x="0" y="35909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6127275" y="3911952"/>
            <a:ext cx="5380804" cy="2872709"/>
          </a:xfrm>
          <a:custGeom>
            <a:avLst/>
            <a:gdLst/>
            <a:ahLst/>
            <a:cxnLst/>
            <a:rect l="l" t="t" r="r" b="b"/>
            <a:pathLst>
              <a:path w="5380804" h="2872709">
                <a:moveTo>
                  <a:pt x="0" y="0"/>
                </a:moveTo>
                <a:lnTo>
                  <a:pt x="5380804" y="0"/>
                </a:lnTo>
                <a:lnTo>
                  <a:pt x="5380804" y="2872708"/>
                </a:lnTo>
                <a:lnTo>
                  <a:pt x="0" y="28727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1326291" y="3911952"/>
            <a:ext cx="6961709" cy="2880407"/>
          </a:xfrm>
          <a:custGeom>
            <a:avLst/>
            <a:gdLst/>
            <a:ahLst/>
            <a:cxnLst/>
            <a:rect l="l" t="t" r="r" b="b"/>
            <a:pathLst>
              <a:path w="6961709" h="2880407">
                <a:moveTo>
                  <a:pt x="0" y="0"/>
                </a:moveTo>
                <a:lnTo>
                  <a:pt x="6961709" y="0"/>
                </a:lnTo>
                <a:lnTo>
                  <a:pt x="6961709" y="2880407"/>
                </a:lnTo>
                <a:lnTo>
                  <a:pt x="0" y="2880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4424" y="565367"/>
            <a:ext cx="242447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SQL命令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27275" y="1466687"/>
            <a:ext cx="60334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建立table (table依字母排序)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8161" y="3070651"/>
            <a:ext cx="844425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0117" y="3070651"/>
            <a:ext cx="1090407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8900" y="3070651"/>
            <a:ext cx="2033339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userlove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2512263" y="3705150"/>
            <a:ext cx="13263474" cy="3282710"/>
          </a:xfrm>
          <a:custGeom>
            <a:avLst/>
            <a:gdLst/>
            <a:ahLst/>
            <a:cxnLst/>
            <a:rect l="l" t="t" r="r" b="b"/>
            <a:pathLst>
              <a:path w="13263474" h="3282710">
                <a:moveTo>
                  <a:pt x="0" y="0"/>
                </a:moveTo>
                <a:lnTo>
                  <a:pt x="13263474" y="0"/>
                </a:lnTo>
                <a:lnTo>
                  <a:pt x="13263474" y="3282709"/>
                </a:lnTo>
                <a:lnTo>
                  <a:pt x="0" y="32827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14424" y="565367"/>
            <a:ext cx="2424476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SQL命令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67756" y="1417933"/>
            <a:ext cx="7057287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匯入資料(以csv檔儲存並直接匯入)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41386" y="7402985"/>
            <a:ext cx="10205229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*table name為各自的table名稱以及csv檔名稱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8281430" y="2113423"/>
            <a:ext cx="7934517" cy="8173577"/>
          </a:xfrm>
          <a:custGeom>
            <a:avLst/>
            <a:gdLst/>
            <a:ahLst/>
            <a:cxnLst/>
            <a:rect l="l" t="t" r="r" b="b"/>
            <a:pathLst>
              <a:path w="7934517" h="8173577">
                <a:moveTo>
                  <a:pt x="0" y="0"/>
                </a:moveTo>
                <a:lnTo>
                  <a:pt x="7934517" y="0"/>
                </a:lnTo>
                <a:lnTo>
                  <a:pt x="7934517" y="8173577"/>
                </a:lnTo>
                <a:lnTo>
                  <a:pt x="0" y="81735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20519" y="522708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17887" y="1466687"/>
            <a:ext cx="6472237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使用者偏好分析機制：協同過濾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91966" y="2660683"/>
            <a:ext cx="1213397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目標: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539566" y="3288706"/>
            <a:ext cx="5033449" cy="1854794"/>
            <a:chOff x="0" y="0"/>
            <a:chExt cx="6711265" cy="247305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711265" cy="2473059"/>
              <a:chOff x="0" y="0"/>
              <a:chExt cx="1325682" cy="4885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325682" cy="488506"/>
              </a:xfrm>
              <a:custGeom>
                <a:avLst/>
                <a:gdLst/>
                <a:ahLst/>
                <a:cxnLst/>
                <a:rect l="l" t="t" r="r" b="b"/>
                <a:pathLst>
                  <a:path w="1325682" h="488506">
                    <a:moveTo>
                      <a:pt x="78443" y="0"/>
                    </a:moveTo>
                    <a:lnTo>
                      <a:pt x="1247239" y="0"/>
                    </a:lnTo>
                    <a:cubicBezTo>
                      <a:pt x="1268044" y="0"/>
                      <a:pt x="1287996" y="8264"/>
                      <a:pt x="1302707" y="22975"/>
                    </a:cubicBezTo>
                    <a:cubicBezTo>
                      <a:pt x="1317418" y="37686"/>
                      <a:pt x="1325682" y="57638"/>
                      <a:pt x="1325682" y="78443"/>
                    </a:cubicBezTo>
                    <a:lnTo>
                      <a:pt x="1325682" y="410063"/>
                    </a:lnTo>
                    <a:cubicBezTo>
                      <a:pt x="1325682" y="430867"/>
                      <a:pt x="1317418" y="450819"/>
                      <a:pt x="1302707" y="465530"/>
                    </a:cubicBezTo>
                    <a:cubicBezTo>
                      <a:pt x="1287996" y="480241"/>
                      <a:pt x="1268044" y="488506"/>
                      <a:pt x="1247239" y="488506"/>
                    </a:cubicBezTo>
                    <a:lnTo>
                      <a:pt x="78443" y="488506"/>
                    </a:lnTo>
                    <a:cubicBezTo>
                      <a:pt x="57638" y="488506"/>
                      <a:pt x="37686" y="480241"/>
                      <a:pt x="22975" y="465530"/>
                    </a:cubicBezTo>
                    <a:cubicBezTo>
                      <a:pt x="8264" y="450819"/>
                      <a:pt x="0" y="430867"/>
                      <a:pt x="0" y="410063"/>
                    </a:cubicBezTo>
                    <a:lnTo>
                      <a:pt x="0" y="78443"/>
                    </a:lnTo>
                    <a:cubicBezTo>
                      <a:pt x="0" y="57638"/>
                      <a:pt x="8264" y="37686"/>
                      <a:pt x="22975" y="22975"/>
                    </a:cubicBezTo>
                    <a:cubicBezTo>
                      <a:pt x="37686" y="8264"/>
                      <a:pt x="57638" y="0"/>
                      <a:pt x="78443" y="0"/>
                    </a:cubicBezTo>
                    <a:close/>
                  </a:path>
                </a:pathLst>
              </a:custGeom>
              <a:solidFill>
                <a:srgbClr val="D9E3F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325682" cy="5361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28532" y="298822"/>
              <a:ext cx="5854201" cy="2174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7"/>
                </a:lnSpc>
              </a:pP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分析目標使用者興趣，找到與他興趣相似的使用者並推薦其書單中目標使用者未收藏的書</a:t>
              </a:r>
            </a:p>
            <a:p>
              <a:pPr algn="l">
                <a:lnSpc>
                  <a:spcPts val="3287"/>
                </a:lnSpc>
              </a:pPr>
              <a:endParaRPr lang="en-US" sz="26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691966" y="5375385"/>
            <a:ext cx="1213397" cy="58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3842" b="1">
                <a:solidFill>
                  <a:srgbClr val="648DB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舉例: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539566" y="6001613"/>
            <a:ext cx="5033449" cy="2858430"/>
            <a:chOff x="0" y="0"/>
            <a:chExt cx="6711265" cy="381124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711265" cy="3811240"/>
              <a:chOff x="0" y="0"/>
              <a:chExt cx="1325682" cy="75283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325682" cy="752838"/>
              </a:xfrm>
              <a:custGeom>
                <a:avLst/>
                <a:gdLst/>
                <a:ahLst/>
                <a:cxnLst/>
                <a:rect l="l" t="t" r="r" b="b"/>
                <a:pathLst>
                  <a:path w="1325682" h="752838">
                    <a:moveTo>
                      <a:pt x="78443" y="0"/>
                    </a:moveTo>
                    <a:lnTo>
                      <a:pt x="1247239" y="0"/>
                    </a:lnTo>
                    <a:cubicBezTo>
                      <a:pt x="1268044" y="0"/>
                      <a:pt x="1287996" y="8264"/>
                      <a:pt x="1302707" y="22975"/>
                    </a:cubicBezTo>
                    <a:cubicBezTo>
                      <a:pt x="1317418" y="37686"/>
                      <a:pt x="1325682" y="57638"/>
                      <a:pt x="1325682" y="78443"/>
                    </a:cubicBezTo>
                    <a:lnTo>
                      <a:pt x="1325682" y="674395"/>
                    </a:lnTo>
                    <a:cubicBezTo>
                      <a:pt x="1325682" y="695199"/>
                      <a:pt x="1317418" y="715151"/>
                      <a:pt x="1302707" y="729862"/>
                    </a:cubicBezTo>
                    <a:cubicBezTo>
                      <a:pt x="1287996" y="744573"/>
                      <a:pt x="1268044" y="752838"/>
                      <a:pt x="1247239" y="752838"/>
                    </a:cubicBezTo>
                    <a:lnTo>
                      <a:pt x="78443" y="752838"/>
                    </a:lnTo>
                    <a:cubicBezTo>
                      <a:pt x="57638" y="752838"/>
                      <a:pt x="37686" y="744573"/>
                      <a:pt x="22975" y="729862"/>
                    </a:cubicBezTo>
                    <a:cubicBezTo>
                      <a:pt x="8264" y="715151"/>
                      <a:pt x="0" y="695199"/>
                      <a:pt x="0" y="674395"/>
                    </a:cubicBezTo>
                    <a:lnTo>
                      <a:pt x="0" y="78443"/>
                    </a:lnTo>
                    <a:cubicBezTo>
                      <a:pt x="0" y="57638"/>
                      <a:pt x="8264" y="37686"/>
                      <a:pt x="22975" y="22975"/>
                    </a:cubicBezTo>
                    <a:cubicBezTo>
                      <a:pt x="37686" y="8264"/>
                      <a:pt x="57638" y="0"/>
                      <a:pt x="78443" y="0"/>
                    </a:cubicBezTo>
                    <a:close/>
                  </a:path>
                </a:pathLst>
              </a:custGeom>
              <a:solidFill>
                <a:srgbClr val="D9E3F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325682" cy="8004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28532" y="298822"/>
              <a:ext cx="5854201" cy="32664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87"/>
                </a:lnSpc>
              </a:pP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若要推薦一本</a:t>
              </a:r>
              <a:r>
                <a:rPr lang="en-US" sz="26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目標使用者A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未收藏的書給他，須先找到跟</a:t>
              </a:r>
              <a:r>
                <a:rPr lang="en-US" sz="26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興趣相似的使用者，如圖</a:t>
              </a:r>
              <a:r>
                <a:rPr lang="en-US" sz="26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及</a:t>
              </a:r>
              <a:r>
                <a:rPr lang="en-US" sz="2642" b="1">
                  <a:solidFill>
                    <a:srgbClr val="588045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C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的收藏重複率高，故從</a:t>
              </a:r>
              <a:r>
                <a:rPr lang="en-US" sz="2642" b="1">
                  <a:solidFill>
                    <a:srgbClr val="588045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C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已收藏但</a:t>
              </a:r>
              <a:r>
                <a:rPr lang="en-US" sz="26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</a:t>
              </a:r>
              <a:r>
                <a:rPr lang="en-US" sz="26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未收藏的書中推薦書籍4給</a:t>
              </a:r>
              <a:r>
                <a:rPr lang="en-US" sz="26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0519" y="540633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576" y="1405805"/>
            <a:ext cx="45708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Jaccard相似程度公式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82490" y="3086703"/>
            <a:ext cx="980779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 dirty="0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作法1: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16769" y="6063366"/>
            <a:ext cx="6286500" cy="1221138"/>
            <a:chOff x="0" y="0"/>
            <a:chExt cx="8382000" cy="1628184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382000" cy="1628184"/>
              <a:chOff x="0" y="0"/>
              <a:chExt cx="1655704" cy="32161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655704" cy="321617"/>
              </a:xfrm>
              <a:custGeom>
                <a:avLst/>
                <a:gdLst/>
                <a:ahLst/>
                <a:cxnLst/>
                <a:rect l="l" t="t" r="r" b="b"/>
                <a:pathLst>
                  <a:path w="1655704" h="321617">
                    <a:moveTo>
                      <a:pt x="62807" y="0"/>
                    </a:moveTo>
                    <a:lnTo>
                      <a:pt x="1592897" y="0"/>
                    </a:lnTo>
                    <a:cubicBezTo>
                      <a:pt x="1627584" y="0"/>
                      <a:pt x="1655704" y="28120"/>
                      <a:pt x="1655704" y="62807"/>
                    </a:cubicBezTo>
                    <a:lnTo>
                      <a:pt x="1655704" y="258809"/>
                    </a:lnTo>
                    <a:cubicBezTo>
                      <a:pt x="1655704" y="293497"/>
                      <a:pt x="1627584" y="321617"/>
                      <a:pt x="1592897" y="321617"/>
                    </a:cubicBezTo>
                    <a:lnTo>
                      <a:pt x="62807" y="321617"/>
                    </a:lnTo>
                    <a:cubicBezTo>
                      <a:pt x="28120" y="321617"/>
                      <a:pt x="0" y="293497"/>
                      <a:pt x="0" y="258809"/>
                    </a:cubicBezTo>
                    <a:lnTo>
                      <a:pt x="0" y="62807"/>
                    </a:lnTo>
                    <a:cubicBezTo>
                      <a:pt x="0" y="28120"/>
                      <a:pt x="28120" y="0"/>
                      <a:pt x="62807" y="0"/>
                    </a:cubicBezTo>
                    <a:close/>
                  </a:path>
                </a:pathLst>
              </a:custGeom>
              <a:solidFill>
                <a:srgbClr val="E7E7E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655704" cy="3692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35213" y="318985"/>
              <a:ext cx="7311573" cy="1016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8"/>
                </a:lnSpc>
              </a:pP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將圖轉換為喜好程度分析表，若一位使用者有收藏該本書則計為</a:t>
              </a:r>
              <a:r>
                <a:rPr lang="en-US" sz="24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1</a:t>
              </a: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，若無則為</a:t>
              </a:r>
              <a:r>
                <a:rPr lang="en-US" sz="24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</a:t>
              </a:r>
            </a:p>
          </p:txBody>
        </p:sp>
      </p:grpSp>
      <p:graphicFrame>
        <p:nvGraphicFramePr>
          <p:cNvPr id="19" name="Object 19"/>
          <p:cNvGraphicFramePr/>
          <p:nvPr/>
        </p:nvGraphicFramePr>
        <p:xfrm>
          <a:off x="9752768" y="3702394"/>
          <a:ext cx="37719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4521200" imgH="2006600" progId="Excel.Sheet.12">
                  <p:embed/>
                </p:oleObj>
              </mc:Choice>
              <mc:Fallback>
                <p:oleObj name="Worksheet" r:id="rId10" imgW="4521200" imgH="2006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752768" y="3702394"/>
                        <a:ext cx="37719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9826560" y="3076165"/>
            <a:ext cx="1135912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作法2: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387564" y="6063366"/>
            <a:ext cx="7269010" cy="840138"/>
            <a:chOff x="0" y="0"/>
            <a:chExt cx="9692013" cy="1120184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9692013" cy="1120184"/>
              <a:chOff x="0" y="0"/>
              <a:chExt cx="1914472" cy="22127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914472" cy="221271"/>
              </a:xfrm>
              <a:custGeom>
                <a:avLst/>
                <a:gdLst/>
                <a:ahLst/>
                <a:cxnLst/>
                <a:rect l="l" t="t" r="r" b="b"/>
                <a:pathLst>
                  <a:path w="1914472" h="221271">
                    <a:moveTo>
                      <a:pt x="54318" y="0"/>
                    </a:moveTo>
                    <a:lnTo>
                      <a:pt x="1860154" y="0"/>
                    </a:lnTo>
                    <a:cubicBezTo>
                      <a:pt x="1890153" y="0"/>
                      <a:pt x="1914472" y="24319"/>
                      <a:pt x="1914472" y="54318"/>
                    </a:cubicBezTo>
                    <a:lnTo>
                      <a:pt x="1914472" y="166953"/>
                    </a:lnTo>
                    <a:cubicBezTo>
                      <a:pt x="1914472" y="181359"/>
                      <a:pt x="1908749" y="195175"/>
                      <a:pt x="1898562" y="205362"/>
                    </a:cubicBezTo>
                    <a:cubicBezTo>
                      <a:pt x="1888376" y="215548"/>
                      <a:pt x="1874560" y="221271"/>
                      <a:pt x="1860154" y="221271"/>
                    </a:cubicBezTo>
                    <a:lnTo>
                      <a:pt x="54318" y="221271"/>
                    </a:lnTo>
                    <a:cubicBezTo>
                      <a:pt x="39912" y="221271"/>
                      <a:pt x="26096" y="215548"/>
                      <a:pt x="15909" y="205362"/>
                    </a:cubicBezTo>
                    <a:cubicBezTo>
                      <a:pt x="5723" y="195175"/>
                      <a:pt x="0" y="181359"/>
                      <a:pt x="0" y="166953"/>
                    </a:cubicBezTo>
                    <a:lnTo>
                      <a:pt x="0" y="54318"/>
                    </a:lnTo>
                    <a:cubicBezTo>
                      <a:pt x="0" y="39912"/>
                      <a:pt x="5723" y="26096"/>
                      <a:pt x="15909" y="15909"/>
                    </a:cubicBezTo>
                    <a:cubicBezTo>
                      <a:pt x="26096" y="5723"/>
                      <a:pt x="39912" y="0"/>
                      <a:pt x="54318" y="0"/>
                    </a:cubicBezTo>
                    <a:close/>
                  </a:path>
                </a:pathLst>
              </a:custGeom>
              <a:solidFill>
                <a:srgbClr val="E7E7E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914472" cy="2688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618861" y="318985"/>
              <a:ext cx="8454291" cy="508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8"/>
                </a:lnSpc>
              </a:pP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從兩人書單的聯集中，看交集的書所佔之比例</a:t>
              </a:r>
            </a:p>
          </p:txBody>
        </p:sp>
      </p:grp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951200E-A855-E58F-5034-D25F6579F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829975"/>
              </p:ext>
            </p:extLst>
          </p:nvPr>
        </p:nvGraphicFramePr>
        <p:xfrm>
          <a:off x="9387564" y="3835894"/>
          <a:ext cx="6462036" cy="1798239"/>
        </p:xfrm>
        <a:graphic>
          <a:graphicData uri="http://schemas.openxmlformats.org/drawingml/2006/table">
            <a:tbl>
              <a:tblPr/>
              <a:tblGrid>
                <a:gridCol w="1904584">
                  <a:extLst>
                    <a:ext uri="{9D8B030D-6E8A-4147-A177-3AD203B41FA5}">
                      <a16:colId xmlns:a16="http://schemas.microsoft.com/office/drawing/2014/main" val="2833283626"/>
                    </a:ext>
                  </a:extLst>
                </a:gridCol>
                <a:gridCol w="1585652">
                  <a:extLst>
                    <a:ext uri="{9D8B030D-6E8A-4147-A177-3AD203B41FA5}">
                      <a16:colId xmlns:a16="http://schemas.microsoft.com/office/drawing/2014/main" val="67042895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777333123"/>
                    </a:ext>
                  </a:extLst>
                </a:gridCol>
              </a:tblGrid>
              <a:tr h="502350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目標使用者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相似程度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006482"/>
                  </a:ext>
                </a:extLst>
              </a:tr>
              <a:tr h="640178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使用者</a:t>
                      </a:r>
                      <a:r>
                        <a:rPr lang="en-US" b="1" dirty="0">
                          <a:effectLst/>
                        </a:rPr>
                        <a:t>B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effectLst/>
                        </a:rPr>
                        <a:t>(A∩B) / (AUB) = 0/4 = 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836510"/>
                  </a:ext>
                </a:extLst>
              </a:tr>
              <a:tr h="655711">
                <a:tc>
                  <a:txBody>
                    <a:bodyPr/>
                    <a:lstStyle/>
                    <a:p>
                      <a:r>
                        <a:rPr lang="zh-TW" altLang="en-US" b="1" dirty="0">
                          <a:effectLst/>
                        </a:rPr>
                        <a:t>使用者</a:t>
                      </a:r>
                      <a:r>
                        <a:rPr lang="en-US" b="1" dirty="0">
                          <a:effectLst/>
                        </a:rPr>
                        <a:t>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  <a:r>
                        <a:rPr lang="en-US" b="1">
                          <a:effectLst/>
                        </a:rPr>
                        <a:t>C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(A∩C) / (AUC) = 2/3 ≈ 0.67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047754"/>
                  </a:ext>
                </a:extLst>
              </a:tr>
            </a:tbl>
          </a:graphicData>
        </a:graphic>
      </p:graphicFrame>
      <p:sp>
        <p:nvSpPr>
          <p:cNvPr id="27" name="Rectangle 1">
            <a:extLst>
              <a:ext uri="{FF2B5EF4-FFF2-40B4-BE49-F238E27FC236}">
                <a16:creationId xmlns:a16="http://schemas.microsoft.com/office/drawing/2014/main" id="{99820526-54F0-62A4-1330-1D5F755C9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4006" y="3819323"/>
            <a:ext cx="170910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0B43B47D-A050-89EF-CE57-B0AB39C92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573431"/>
              </p:ext>
            </p:extLst>
          </p:nvPr>
        </p:nvGraphicFramePr>
        <p:xfrm>
          <a:off x="2111946" y="3896895"/>
          <a:ext cx="5431854" cy="1523956"/>
        </p:xfrm>
        <a:graphic>
          <a:graphicData uri="http://schemas.openxmlformats.org/drawingml/2006/table">
            <a:tbl>
              <a:tblPr/>
              <a:tblGrid>
                <a:gridCol w="1310500">
                  <a:extLst>
                    <a:ext uri="{9D8B030D-6E8A-4147-A177-3AD203B41FA5}">
                      <a16:colId xmlns:a16="http://schemas.microsoft.com/office/drawing/2014/main" val="3815252371"/>
                    </a:ext>
                  </a:extLst>
                </a:gridCol>
                <a:gridCol w="1073354">
                  <a:extLst>
                    <a:ext uri="{9D8B030D-6E8A-4147-A177-3AD203B41FA5}">
                      <a16:colId xmlns:a16="http://schemas.microsoft.com/office/drawing/2014/main" val="109651287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83983511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00074507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73662193"/>
                    </a:ext>
                  </a:extLst>
                </a:gridCol>
              </a:tblGrid>
              <a:tr h="380989">
                <a:tc>
                  <a:txBody>
                    <a:bodyPr/>
                    <a:lstStyle/>
                    <a:p>
                      <a:endParaRPr lang="zh-TW" altLang="en-US" b="1">
                        <a:effectLst/>
                      </a:endParaRP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書籍</a:t>
                      </a:r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書籍</a:t>
                      </a:r>
                      <a:r>
                        <a:rPr lang="en-US" altLang="zh-TW" b="1">
                          <a:effectLst/>
                        </a:rPr>
                        <a:t>2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書籍</a:t>
                      </a:r>
                      <a:r>
                        <a:rPr lang="en-US" altLang="zh-TW" b="1">
                          <a:effectLst/>
                        </a:rPr>
                        <a:t>3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書籍</a:t>
                      </a:r>
                      <a:r>
                        <a:rPr lang="en-US" altLang="zh-TW" b="1">
                          <a:effectLst/>
                        </a:rPr>
                        <a:t>4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9766"/>
                  </a:ext>
                </a:extLst>
              </a:tr>
              <a:tr h="380989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  <a:r>
                        <a:rPr lang="en-US" b="1">
                          <a:effectLst/>
                        </a:rPr>
                        <a:t>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794167"/>
                  </a:ext>
                </a:extLst>
              </a:tr>
              <a:tr h="380989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  <a:r>
                        <a:rPr lang="en-US" b="1">
                          <a:effectLst/>
                        </a:rPr>
                        <a:t>B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87010"/>
                  </a:ext>
                </a:extLst>
              </a:tr>
              <a:tr h="380989">
                <a:tc>
                  <a:txBody>
                    <a:bodyPr/>
                    <a:lstStyle/>
                    <a:p>
                      <a:r>
                        <a:rPr lang="zh-TW" altLang="en-US" b="1">
                          <a:effectLst/>
                        </a:rPr>
                        <a:t>使用者</a:t>
                      </a:r>
                      <a:r>
                        <a:rPr lang="en-US" b="1">
                          <a:effectLst/>
                        </a:rPr>
                        <a:t>C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>
                          <a:effectLst/>
                        </a:rPr>
                        <a:t>0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541700"/>
                  </a:ext>
                </a:extLst>
              </a:tr>
            </a:tbl>
          </a:graphicData>
        </a:graphic>
      </p:graphicFrame>
      <p:sp>
        <p:nvSpPr>
          <p:cNvPr id="29" name="Rectangle 2">
            <a:extLst>
              <a:ext uri="{FF2B5EF4-FFF2-40B4-BE49-F238E27FC236}">
                <a16:creationId xmlns:a16="http://schemas.microsoft.com/office/drawing/2014/main" id="{B1ECD8BA-04ED-9285-6AC2-5CB7170C6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4301" y="3897022"/>
            <a:ext cx="1456111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C441D0CC-AA89-1100-E289-59B788FC5D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11946" y="3661664"/>
            <a:ext cx="6285621" cy="2001617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70174B9-FD88-4DE4-95DB-83DC048C53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8627" y="3663301"/>
            <a:ext cx="6916115" cy="21434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14424" y="3189889"/>
            <a:ext cx="6679052" cy="2003851"/>
            <a:chOff x="0" y="0"/>
            <a:chExt cx="1759092" cy="5277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9092" cy="527763"/>
            </a:xfrm>
            <a:custGeom>
              <a:avLst/>
              <a:gdLst/>
              <a:ahLst/>
              <a:cxnLst/>
              <a:rect l="l" t="t" r="r" b="b"/>
              <a:pathLst>
                <a:path w="1759092" h="527763">
                  <a:moveTo>
                    <a:pt x="59116" y="0"/>
                  </a:moveTo>
                  <a:lnTo>
                    <a:pt x="1699976" y="0"/>
                  </a:lnTo>
                  <a:cubicBezTo>
                    <a:pt x="1732625" y="0"/>
                    <a:pt x="1759092" y="26467"/>
                    <a:pt x="1759092" y="59116"/>
                  </a:cubicBezTo>
                  <a:lnTo>
                    <a:pt x="1759092" y="468647"/>
                  </a:lnTo>
                  <a:cubicBezTo>
                    <a:pt x="1759092" y="484326"/>
                    <a:pt x="1752864" y="499362"/>
                    <a:pt x="1741777" y="510449"/>
                  </a:cubicBezTo>
                  <a:cubicBezTo>
                    <a:pt x="1730691" y="521535"/>
                    <a:pt x="1715655" y="527763"/>
                    <a:pt x="1699976" y="527763"/>
                  </a:cubicBezTo>
                  <a:lnTo>
                    <a:pt x="59116" y="527763"/>
                  </a:lnTo>
                  <a:cubicBezTo>
                    <a:pt x="43437" y="527763"/>
                    <a:pt x="28401" y="521535"/>
                    <a:pt x="17315" y="510449"/>
                  </a:cubicBezTo>
                  <a:cubicBezTo>
                    <a:pt x="6228" y="499362"/>
                    <a:pt x="0" y="484326"/>
                    <a:pt x="0" y="468647"/>
                  </a:cubicBezTo>
                  <a:lnTo>
                    <a:pt x="0" y="59116"/>
                  </a:lnTo>
                  <a:cubicBezTo>
                    <a:pt x="0" y="26467"/>
                    <a:pt x="26467" y="0"/>
                    <a:pt x="59116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759092" cy="575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140873" y="3407233"/>
            <a:ext cx="6008585" cy="191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A對</a:t>
            </a:r>
            <a:r>
              <a:rPr lang="en-US" sz="2442" b="1">
                <a:solidFill>
                  <a:srgbClr val="5A827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書籍3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的喜好程度：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= A與B的相似程度 × B對</a:t>
            </a:r>
            <a:r>
              <a:rPr lang="en-US" sz="2442" b="1">
                <a:solidFill>
                  <a:srgbClr val="5A827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書籍3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+ A與C的相似程度 × C對</a:t>
            </a:r>
            <a:r>
              <a:rPr lang="en-US" sz="2442" b="1">
                <a:solidFill>
                  <a:srgbClr val="5A827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書籍3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= 0 × 1 + 0.67 × 0 = 0</a:t>
            </a:r>
          </a:p>
          <a:p>
            <a:pPr algn="l">
              <a:lnSpc>
                <a:spcPts val="3038"/>
              </a:lnSpc>
            </a:pPr>
            <a:endParaRPr lang="en-US" sz="2442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667757" y="7178361"/>
            <a:ext cx="6739083" cy="971338"/>
            <a:chOff x="0" y="0"/>
            <a:chExt cx="8985444" cy="129511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8985444" cy="1295117"/>
              <a:chOff x="0" y="0"/>
              <a:chExt cx="1535165" cy="22127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535165" cy="221271"/>
              </a:xfrm>
              <a:custGeom>
                <a:avLst/>
                <a:gdLst/>
                <a:ahLst/>
                <a:cxnLst/>
                <a:rect l="l" t="t" r="r" b="b"/>
                <a:pathLst>
                  <a:path w="1535165" h="221271">
                    <a:moveTo>
                      <a:pt x="67739" y="0"/>
                    </a:moveTo>
                    <a:lnTo>
                      <a:pt x="1467426" y="0"/>
                    </a:lnTo>
                    <a:cubicBezTo>
                      <a:pt x="1504837" y="0"/>
                      <a:pt x="1535165" y="30328"/>
                      <a:pt x="1535165" y="67739"/>
                    </a:cubicBezTo>
                    <a:lnTo>
                      <a:pt x="1535165" y="153532"/>
                    </a:lnTo>
                    <a:cubicBezTo>
                      <a:pt x="1535165" y="171498"/>
                      <a:pt x="1528028" y="188727"/>
                      <a:pt x="1515325" y="201431"/>
                    </a:cubicBezTo>
                    <a:cubicBezTo>
                      <a:pt x="1502621" y="214134"/>
                      <a:pt x="1485392" y="221271"/>
                      <a:pt x="1467426" y="221271"/>
                    </a:cubicBezTo>
                    <a:lnTo>
                      <a:pt x="67739" y="221271"/>
                    </a:lnTo>
                    <a:cubicBezTo>
                      <a:pt x="49773" y="221271"/>
                      <a:pt x="32544" y="214134"/>
                      <a:pt x="19840" y="201431"/>
                    </a:cubicBezTo>
                    <a:cubicBezTo>
                      <a:pt x="7137" y="188727"/>
                      <a:pt x="0" y="171498"/>
                      <a:pt x="0" y="153532"/>
                    </a:cubicBezTo>
                    <a:lnTo>
                      <a:pt x="0" y="67739"/>
                    </a:lnTo>
                    <a:cubicBezTo>
                      <a:pt x="0" y="30328"/>
                      <a:pt x="30328" y="0"/>
                      <a:pt x="67739" y="0"/>
                    </a:cubicBezTo>
                    <a:close/>
                  </a:path>
                </a:pathLst>
              </a:custGeom>
              <a:solidFill>
                <a:srgbClr val="E7E7E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535165" cy="2688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573745" y="371774"/>
              <a:ext cx="7837955" cy="585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2"/>
                </a:lnSpc>
              </a:pPr>
              <a:r>
                <a:rPr lang="en-US" sz="2823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方式較像二分法，無法表達偏好程度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811775" y="3998741"/>
            <a:ext cx="6864414" cy="1643564"/>
          </a:xfrm>
          <a:custGeom>
            <a:avLst/>
            <a:gdLst/>
            <a:ahLst/>
            <a:cxnLst/>
            <a:rect l="l" t="t" r="r" b="b"/>
            <a:pathLst>
              <a:path w="6864414" h="1643564">
                <a:moveTo>
                  <a:pt x="0" y="0"/>
                </a:moveTo>
                <a:lnTo>
                  <a:pt x="6864414" y="0"/>
                </a:lnTo>
                <a:lnTo>
                  <a:pt x="6864414" y="1643564"/>
                </a:lnTo>
                <a:lnTo>
                  <a:pt x="0" y="1643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47480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14424" y="522708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58576" y="1405805"/>
            <a:ext cx="457084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Jaccard相似程度公式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11775" y="2502210"/>
            <a:ext cx="1226760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作法3: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1775" y="3032283"/>
            <a:ext cx="5046800" cy="7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  <a:spcBef>
                <a:spcPct val="0"/>
              </a:spcBef>
            </a:pPr>
            <a:r>
              <a:rPr lang="en-US" sz="2442" b="1">
                <a:solidFill>
                  <a:srgbClr val="737373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以二分法(收藏與沒收藏)來計算目標使用者對沒收藏的書及喜好程度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14424" y="2502210"/>
            <a:ext cx="7061483" cy="37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43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以書籍3、4為例，目標使用者A對他的喜好程度為: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614424" y="5508134"/>
            <a:ext cx="6679052" cy="2003851"/>
            <a:chOff x="0" y="0"/>
            <a:chExt cx="1759092" cy="52776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59092" cy="527763"/>
            </a:xfrm>
            <a:custGeom>
              <a:avLst/>
              <a:gdLst/>
              <a:ahLst/>
              <a:cxnLst/>
              <a:rect l="l" t="t" r="r" b="b"/>
              <a:pathLst>
                <a:path w="1759092" h="527763">
                  <a:moveTo>
                    <a:pt x="59116" y="0"/>
                  </a:moveTo>
                  <a:lnTo>
                    <a:pt x="1699976" y="0"/>
                  </a:lnTo>
                  <a:cubicBezTo>
                    <a:pt x="1732625" y="0"/>
                    <a:pt x="1759092" y="26467"/>
                    <a:pt x="1759092" y="59116"/>
                  </a:cubicBezTo>
                  <a:lnTo>
                    <a:pt x="1759092" y="468647"/>
                  </a:lnTo>
                  <a:cubicBezTo>
                    <a:pt x="1759092" y="484326"/>
                    <a:pt x="1752864" y="499362"/>
                    <a:pt x="1741777" y="510449"/>
                  </a:cubicBezTo>
                  <a:cubicBezTo>
                    <a:pt x="1730691" y="521535"/>
                    <a:pt x="1715655" y="527763"/>
                    <a:pt x="1699976" y="527763"/>
                  </a:cubicBezTo>
                  <a:lnTo>
                    <a:pt x="59116" y="527763"/>
                  </a:lnTo>
                  <a:cubicBezTo>
                    <a:pt x="43437" y="527763"/>
                    <a:pt x="28401" y="521535"/>
                    <a:pt x="17315" y="510449"/>
                  </a:cubicBezTo>
                  <a:cubicBezTo>
                    <a:pt x="6228" y="499362"/>
                    <a:pt x="0" y="484326"/>
                    <a:pt x="0" y="468647"/>
                  </a:cubicBezTo>
                  <a:lnTo>
                    <a:pt x="0" y="59116"/>
                  </a:lnTo>
                  <a:cubicBezTo>
                    <a:pt x="0" y="26467"/>
                    <a:pt x="26467" y="0"/>
                    <a:pt x="59116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759092" cy="575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140873" y="5725478"/>
            <a:ext cx="6008585" cy="191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A對</a:t>
            </a:r>
            <a:r>
              <a:rPr lang="en-US" sz="2442" b="1">
                <a:solidFill>
                  <a:srgbClr val="84AE9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書籍4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的喜好程度：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= A與B的相似程度 × B對</a:t>
            </a:r>
            <a:r>
              <a:rPr lang="en-US" sz="2442" b="1">
                <a:solidFill>
                  <a:srgbClr val="84AE9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書籍4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+ A與C的相似程度 × C對</a:t>
            </a:r>
            <a:r>
              <a:rPr lang="en-US" sz="2442" b="1">
                <a:solidFill>
                  <a:srgbClr val="84AE92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書籍4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的喜好程度</a:t>
            </a:r>
          </a:p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= 0 × 1 + 0.67 × 1 = 0.67</a:t>
            </a:r>
          </a:p>
          <a:p>
            <a:pPr algn="l">
              <a:lnSpc>
                <a:spcPts val="3038"/>
              </a:lnSpc>
            </a:pPr>
            <a:endParaRPr lang="en-US" sz="2442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811775" y="6390288"/>
            <a:ext cx="1218024" cy="588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3856" b="1">
                <a:solidFill>
                  <a:srgbClr val="5880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缺點: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45694" y="2992484"/>
            <a:ext cx="11947208" cy="1238738"/>
            <a:chOff x="0" y="0"/>
            <a:chExt cx="3146590" cy="326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46590" cy="326252"/>
            </a:xfrm>
            <a:custGeom>
              <a:avLst/>
              <a:gdLst/>
              <a:ahLst/>
              <a:cxnLst/>
              <a:rect l="l" t="t" r="r" b="b"/>
              <a:pathLst>
                <a:path w="3146590" h="326252">
                  <a:moveTo>
                    <a:pt x="33049" y="0"/>
                  </a:moveTo>
                  <a:lnTo>
                    <a:pt x="3113541" y="0"/>
                  </a:lnTo>
                  <a:cubicBezTo>
                    <a:pt x="3131794" y="0"/>
                    <a:pt x="3146590" y="14796"/>
                    <a:pt x="3146590" y="33049"/>
                  </a:cubicBezTo>
                  <a:lnTo>
                    <a:pt x="3146590" y="293204"/>
                  </a:lnTo>
                  <a:cubicBezTo>
                    <a:pt x="3146590" y="311456"/>
                    <a:pt x="3131794" y="326252"/>
                    <a:pt x="3113541" y="326252"/>
                  </a:cubicBezTo>
                  <a:lnTo>
                    <a:pt x="33049" y="326252"/>
                  </a:lnTo>
                  <a:cubicBezTo>
                    <a:pt x="14796" y="326252"/>
                    <a:pt x="0" y="311456"/>
                    <a:pt x="0" y="293204"/>
                  </a:cubicBezTo>
                  <a:lnTo>
                    <a:pt x="0" y="33049"/>
                  </a:lnTo>
                  <a:cubicBezTo>
                    <a:pt x="0" y="14796"/>
                    <a:pt x="14796" y="0"/>
                    <a:pt x="33049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146590" cy="37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45694" y="5462984"/>
            <a:ext cx="9807512" cy="3316712"/>
            <a:chOff x="0" y="0"/>
            <a:chExt cx="2583049" cy="8735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83049" cy="873537"/>
            </a:xfrm>
            <a:custGeom>
              <a:avLst/>
              <a:gdLst/>
              <a:ahLst/>
              <a:cxnLst/>
              <a:rect l="l" t="t" r="r" b="b"/>
              <a:pathLst>
                <a:path w="2583049" h="873537">
                  <a:moveTo>
                    <a:pt x="40259" y="0"/>
                  </a:moveTo>
                  <a:lnTo>
                    <a:pt x="2542790" y="0"/>
                  </a:lnTo>
                  <a:cubicBezTo>
                    <a:pt x="2553467" y="0"/>
                    <a:pt x="2563707" y="4242"/>
                    <a:pt x="2571257" y="11792"/>
                  </a:cubicBezTo>
                  <a:cubicBezTo>
                    <a:pt x="2578807" y="19341"/>
                    <a:pt x="2583049" y="29581"/>
                    <a:pt x="2583049" y="40259"/>
                  </a:cubicBezTo>
                  <a:lnTo>
                    <a:pt x="2583049" y="833279"/>
                  </a:lnTo>
                  <a:cubicBezTo>
                    <a:pt x="2583049" y="855513"/>
                    <a:pt x="2565024" y="873537"/>
                    <a:pt x="2542790" y="873537"/>
                  </a:cubicBezTo>
                  <a:lnTo>
                    <a:pt x="40259" y="873537"/>
                  </a:lnTo>
                  <a:cubicBezTo>
                    <a:pt x="18024" y="873537"/>
                    <a:pt x="0" y="855513"/>
                    <a:pt x="0" y="833279"/>
                  </a:cubicBezTo>
                  <a:lnTo>
                    <a:pt x="0" y="40259"/>
                  </a:lnTo>
                  <a:cubicBezTo>
                    <a:pt x="0" y="18024"/>
                    <a:pt x="18024" y="0"/>
                    <a:pt x="402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5E17EB"/>
              </a:solidFill>
              <a:prstDash val="solid"/>
              <a:rou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583049" cy="921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2351623" y="5728802"/>
            <a:ext cx="7035941" cy="1012792"/>
          </a:xfrm>
          <a:custGeom>
            <a:avLst/>
            <a:gdLst/>
            <a:ahLst/>
            <a:cxnLst/>
            <a:rect l="l" t="t" r="r" b="b"/>
            <a:pathLst>
              <a:path w="7035941" h="1012792">
                <a:moveTo>
                  <a:pt x="0" y="0"/>
                </a:moveTo>
                <a:lnTo>
                  <a:pt x="7035941" y="0"/>
                </a:lnTo>
                <a:lnTo>
                  <a:pt x="7035941" y="1012792"/>
                </a:lnTo>
                <a:lnTo>
                  <a:pt x="0" y="1012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51390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2271354" y="7408344"/>
            <a:ext cx="9094370" cy="1045119"/>
          </a:xfrm>
          <a:custGeom>
            <a:avLst/>
            <a:gdLst/>
            <a:ahLst/>
            <a:cxnLst/>
            <a:rect l="l" t="t" r="r" b="b"/>
            <a:pathLst>
              <a:path w="9094370" h="1045119">
                <a:moveTo>
                  <a:pt x="0" y="0"/>
                </a:moveTo>
                <a:lnTo>
                  <a:pt x="9094370" y="0"/>
                </a:lnTo>
                <a:lnTo>
                  <a:pt x="9094370" y="1045119"/>
                </a:lnTo>
                <a:lnTo>
                  <a:pt x="0" y="10451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0519" y="540633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06593" y="1405805"/>
            <a:ext cx="27619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餘弦相似程度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71354" y="2391519"/>
            <a:ext cx="1635398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解決方式: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86515" y="3226960"/>
            <a:ext cx="11506387" cy="114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把目標使用者</a:t>
            </a:r>
            <a:r>
              <a:rPr lang="en-US" sz="244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的觀看紀錄化成向量A，再對其他使用者</a:t>
            </a:r>
            <a:r>
              <a:rPr lang="en-US" sz="244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</a:t>
            </a: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的觀看紀錄向量B做投影，投影長度越高表示相似程度越高。</a:t>
            </a:r>
          </a:p>
          <a:p>
            <a:pPr algn="l">
              <a:lnSpc>
                <a:spcPts val="3038"/>
              </a:lnSpc>
            </a:pPr>
            <a:endParaRPr lang="en-US" sz="2442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71354" y="4746837"/>
            <a:ext cx="941976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公式: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2964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49704" y="3469623"/>
            <a:ext cx="6226864" cy="2000738"/>
            <a:chOff x="0" y="0"/>
            <a:chExt cx="8302485" cy="266765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8302485" cy="2667651"/>
              <a:chOff x="0" y="0"/>
              <a:chExt cx="1639997" cy="5269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39997" cy="526943"/>
              </a:xfrm>
              <a:custGeom>
                <a:avLst/>
                <a:gdLst/>
                <a:ahLst/>
                <a:cxnLst/>
                <a:rect l="l" t="t" r="r" b="b"/>
                <a:pathLst>
                  <a:path w="1639997" h="526943">
                    <a:moveTo>
                      <a:pt x="63409" y="0"/>
                    </a:moveTo>
                    <a:lnTo>
                      <a:pt x="1576588" y="0"/>
                    </a:lnTo>
                    <a:cubicBezTo>
                      <a:pt x="1593405" y="0"/>
                      <a:pt x="1609534" y="6681"/>
                      <a:pt x="1621425" y="18572"/>
                    </a:cubicBezTo>
                    <a:cubicBezTo>
                      <a:pt x="1633316" y="30463"/>
                      <a:pt x="1639997" y="46592"/>
                      <a:pt x="1639997" y="63409"/>
                    </a:cubicBezTo>
                    <a:lnTo>
                      <a:pt x="1639997" y="463535"/>
                    </a:lnTo>
                    <a:cubicBezTo>
                      <a:pt x="1639997" y="480352"/>
                      <a:pt x="1633316" y="496480"/>
                      <a:pt x="1621425" y="508371"/>
                    </a:cubicBezTo>
                    <a:cubicBezTo>
                      <a:pt x="1609534" y="520263"/>
                      <a:pt x="1593405" y="526943"/>
                      <a:pt x="1576588" y="526943"/>
                    </a:cubicBezTo>
                    <a:lnTo>
                      <a:pt x="63409" y="526943"/>
                    </a:lnTo>
                    <a:cubicBezTo>
                      <a:pt x="46592" y="526943"/>
                      <a:pt x="30463" y="520263"/>
                      <a:pt x="18572" y="508371"/>
                    </a:cubicBezTo>
                    <a:cubicBezTo>
                      <a:pt x="6681" y="496480"/>
                      <a:pt x="0" y="480352"/>
                      <a:pt x="0" y="463535"/>
                    </a:cubicBezTo>
                    <a:lnTo>
                      <a:pt x="0" y="63409"/>
                    </a:lnTo>
                    <a:cubicBezTo>
                      <a:pt x="0" y="46592"/>
                      <a:pt x="6681" y="30463"/>
                      <a:pt x="18572" y="18572"/>
                    </a:cubicBezTo>
                    <a:cubicBezTo>
                      <a:pt x="30463" y="6681"/>
                      <a:pt x="46592" y="0"/>
                      <a:pt x="63409" y="0"/>
                    </a:cubicBezTo>
                    <a:close/>
                  </a:path>
                </a:pathLst>
              </a:custGeom>
              <a:solidFill>
                <a:srgbClr val="E7E7E9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639997" cy="57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01154" y="307874"/>
              <a:ext cx="7860776" cy="2032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8"/>
                </a:lnSpc>
              </a:pP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以目標使用者A、使用者B為例，用觀看次數作為喜好程度，將資料表read</a:t>
              </a:r>
              <a:r>
                <a:rPr lang="en-US" sz="2442" b="1">
                  <a:solidFill>
                    <a:srgbClr val="5E17EB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與自己做Natural JOIN</a:t>
              </a: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並將喜好程度相乘，先計算出對同一本書籍時使用者的對應關係</a:t>
              </a:r>
            </a:p>
          </p:txBody>
        </p:sp>
      </p:grpSp>
      <p:graphicFrame>
        <p:nvGraphicFramePr>
          <p:cNvPr id="14" name="Object 14"/>
          <p:cNvGraphicFramePr/>
          <p:nvPr/>
        </p:nvGraphicFramePr>
        <p:xfrm>
          <a:off x="1449704" y="6084795"/>
          <a:ext cx="62865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7543800" imgH="2933700" progId="Excel.Sheet.12">
                  <p:embed/>
                </p:oleObj>
              </mc:Choice>
              <mc:Fallback>
                <p:oleObj name="Worksheet" r:id="rId10" imgW="7543800" imgH="2933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49704" y="6084795"/>
                        <a:ext cx="628650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5"/>
          <p:cNvGrpSpPr/>
          <p:nvPr/>
        </p:nvGrpSpPr>
        <p:grpSpPr>
          <a:xfrm>
            <a:off x="8006593" y="3498198"/>
            <a:ext cx="4904984" cy="857738"/>
            <a:chOff x="0" y="0"/>
            <a:chExt cx="1291848" cy="2259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1848" cy="225906"/>
            </a:xfrm>
            <a:custGeom>
              <a:avLst/>
              <a:gdLst/>
              <a:ahLst/>
              <a:cxnLst/>
              <a:rect l="l" t="t" r="r" b="b"/>
              <a:pathLst>
                <a:path w="1291848" h="225906">
                  <a:moveTo>
                    <a:pt x="80497" y="0"/>
                  </a:moveTo>
                  <a:lnTo>
                    <a:pt x="1211350" y="0"/>
                  </a:lnTo>
                  <a:cubicBezTo>
                    <a:pt x="1232700" y="0"/>
                    <a:pt x="1253174" y="8481"/>
                    <a:pt x="1268271" y="23577"/>
                  </a:cubicBezTo>
                  <a:cubicBezTo>
                    <a:pt x="1283367" y="38673"/>
                    <a:pt x="1291848" y="59148"/>
                    <a:pt x="1291848" y="80497"/>
                  </a:cubicBezTo>
                  <a:lnTo>
                    <a:pt x="1291848" y="145409"/>
                  </a:lnTo>
                  <a:cubicBezTo>
                    <a:pt x="1291848" y="166758"/>
                    <a:pt x="1283367" y="187233"/>
                    <a:pt x="1268271" y="202329"/>
                  </a:cubicBezTo>
                  <a:cubicBezTo>
                    <a:pt x="1253174" y="217425"/>
                    <a:pt x="1232700" y="225906"/>
                    <a:pt x="1211350" y="225906"/>
                  </a:cubicBezTo>
                  <a:lnTo>
                    <a:pt x="80497" y="225906"/>
                  </a:lnTo>
                  <a:cubicBezTo>
                    <a:pt x="36040" y="225906"/>
                    <a:pt x="0" y="189867"/>
                    <a:pt x="0" y="145409"/>
                  </a:cubicBezTo>
                  <a:lnTo>
                    <a:pt x="0" y="80497"/>
                  </a:lnTo>
                  <a:cubicBezTo>
                    <a:pt x="0" y="59148"/>
                    <a:pt x="8481" y="38673"/>
                    <a:pt x="23577" y="23577"/>
                  </a:cubicBezTo>
                  <a:cubicBezTo>
                    <a:pt x="38673" y="8481"/>
                    <a:pt x="59148" y="0"/>
                    <a:pt x="80497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91848" cy="273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6593" y="5228940"/>
            <a:ext cx="7339443" cy="1200275"/>
            <a:chOff x="0" y="0"/>
            <a:chExt cx="1933022" cy="3161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33022" cy="316122"/>
            </a:xfrm>
            <a:custGeom>
              <a:avLst/>
              <a:gdLst/>
              <a:ahLst/>
              <a:cxnLst/>
              <a:rect l="l" t="t" r="r" b="b"/>
              <a:pathLst>
                <a:path w="1933022" h="316122">
                  <a:moveTo>
                    <a:pt x="53797" y="0"/>
                  </a:moveTo>
                  <a:lnTo>
                    <a:pt x="1879225" y="0"/>
                  </a:lnTo>
                  <a:cubicBezTo>
                    <a:pt x="1893493" y="0"/>
                    <a:pt x="1907176" y="5668"/>
                    <a:pt x="1917265" y="15757"/>
                  </a:cubicBezTo>
                  <a:cubicBezTo>
                    <a:pt x="1927354" y="25846"/>
                    <a:pt x="1933022" y="39529"/>
                    <a:pt x="1933022" y="53797"/>
                  </a:cubicBezTo>
                  <a:lnTo>
                    <a:pt x="1933022" y="262325"/>
                  </a:lnTo>
                  <a:cubicBezTo>
                    <a:pt x="1933022" y="276593"/>
                    <a:pt x="1927354" y="290276"/>
                    <a:pt x="1917265" y="300365"/>
                  </a:cubicBezTo>
                  <a:cubicBezTo>
                    <a:pt x="1907176" y="310454"/>
                    <a:pt x="1893493" y="316122"/>
                    <a:pt x="1879225" y="316122"/>
                  </a:cubicBezTo>
                  <a:lnTo>
                    <a:pt x="53797" y="316122"/>
                  </a:lnTo>
                  <a:cubicBezTo>
                    <a:pt x="39529" y="316122"/>
                    <a:pt x="25846" y="310454"/>
                    <a:pt x="15757" y="300365"/>
                  </a:cubicBezTo>
                  <a:cubicBezTo>
                    <a:pt x="5668" y="290276"/>
                    <a:pt x="0" y="276593"/>
                    <a:pt x="0" y="262325"/>
                  </a:cubicBezTo>
                  <a:lnTo>
                    <a:pt x="0" y="53797"/>
                  </a:lnTo>
                  <a:cubicBezTo>
                    <a:pt x="0" y="39529"/>
                    <a:pt x="5668" y="25846"/>
                    <a:pt x="15757" y="15757"/>
                  </a:cubicBezTo>
                  <a:cubicBezTo>
                    <a:pt x="25846" y="5668"/>
                    <a:pt x="39529" y="0"/>
                    <a:pt x="53797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933022" cy="363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0519" y="540633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06593" y="1405805"/>
            <a:ext cx="27619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餘弦相似程度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73661" y="2868659"/>
            <a:ext cx="1079900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作法1: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94032" y="2868659"/>
            <a:ext cx="1127142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作法2: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315212" y="3708956"/>
            <a:ext cx="4486263" cy="436223"/>
            <a:chOff x="0" y="0"/>
            <a:chExt cx="5981684" cy="581631"/>
          </a:xfrm>
        </p:grpSpPr>
        <p:sp>
          <p:nvSpPr>
            <p:cNvPr id="27" name="TextBox 27"/>
            <p:cNvSpPr txBox="1"/>
            <p:nvPr/>
          </p:nvSpPr>
          <p:spPr>
            <a:xfrm>
              <a:off x="0" y="72779"/>
              <a:ext cx="5981684" cy="508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8"/>
                </a:lnSpc>
              </a:pPr>
              <a:r>
                <a:rPr lang="en-US" sz="2442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用SUM計算∑A   、∑B   、A×B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63204" y="0"/>
              <a:ext cx="199056" cy="336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8"/>
                </a:lnSpc>
              </a:pPr>
              <a:r>
                <a:rPr lang="en-US" sz="1679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80270" y="0"/>
              <a:ext cx="199056" cy="336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8"/>
                </a:lnSpc>
              </a:pPr>
              <a:r>
                <a:rPr lang="en-US" sz="1679" b="1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2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094032" y="4599400"/>
            <a:ext cx="1127142" cy="4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978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作法3: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28906" y="5451312"/>
            <a:ext cx="6972127" cy="7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再將步驟(1)的表格與自己做第二次Natural JOIN，而需要將AA、AB、BB顯示在同一列已進行計算</a:t>
            </a:r>
          </a:p>
        </p:txBody>
      </p:sp>
      <p:graphicFrame>
        <p:nvGraphicFramePr>
          <p:cNvPr id="32" name="Object 32"/>
          <p:cNvGraphicFramePr/>
          <p:nvPr/>
        </p:nvGraphicFramePr>
        <p:xfrm>
          <a:off x="8006593" y="6990753"/>
          <a:ext cx="62865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7543800" imgH="2933700" progId="Excel.Sheet.12">
                  <p:embed/>
                </p:oleObj>
              </mc:Choice>
              <mc:Fallback>
                <p:oleObj name="Worksheet" r:id="rId12" imgW="7543800" imgH="2933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06593" y="6990753"/>
                        <a:ext cx="6286500" cy="16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" name="圖片 33">
            <a:extLst>
              <a:ext uri="{FF2B5EF4-FFF2-40B4-BE49-F238E27FC236}">
                <a16:creationId xmlns:a16="http://schemas.microsoft.com/office/drawing/2014/main" id="{20E7795F-CDD6-7E32-7FD4-E127C83B52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7424" y="5988289"/>
            <a:ext cx="5525271" cy="2610214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3EC1782B-2DB7-52E3-4563-6411A83CBC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1416" y="7246773"/>
            <a:ext cx="8916644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44122" y="3428579"/>
            <a:ext cx="10210716" cy="924717"/>
            <a:chOff x="0" y="0"/>
            <a:chExt cx="2344637" cy="2123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44637" cy="212338"/>
            </a:xfrm>
            <a:custGeom>
              <a:avLst/>
              <a:gdLst/>
              <a:ahLst/>
              <a:cxnLst/>
              <a:rect l="l" t="t" r="r" b="b"/>
              <a:pathLst>
                <a:path w="2344637" h="212338">
                  <a:moveTo>
                    <a:pt x="38669" y="0"/>
                  </a:moveTo>
                  <a:lnTo>
                    <a:pt x="2305968" y="0"/>
                  </a:lnTo>
                  <a:cubicBezTo>
                    <a:pt x="2316223" y="0"/>
                    <a:pt x="2326059" y="4074"/>
                    <a:pt x="2333311" y="11326"/>
                  </a:cubicBezTo>
                  <a:cubicBezTo>
                    <a:pt x="2340563" y="18578"/>
                    <a:pt x="2344637" y="28413"/>
                    <a:pt x="2344637" y="38669"/>
                  </a:cubicBezTo>
                  <a:lnTo>
                    <a:pt x="2344637" y="173669"/>
                  </a:lnTo>
                  <a:cubicBezTo>
                    <a:pt x="2344637" y="183925"/>
                    <a:pt x="2340563" y="193761"/>
                    <a:pt x="2333311" y="201012"/>
                  </a:cubicBezTo>
                  <a:cubicBezTo>
                    <a:pt x="2326059" y="208264"/>
                    <a:pt x="2316223" y="212338"/>
                    <a:pt x="2305968" y="212338"/>
                  </a:cubicBezTo>
                  <a:lnTo>
                    <a:pt x="38669" y="212338"/>
                  </a:lnTo>
                  <a:cubicBezTo>
                    <a:pt x="28413" y="212338"/>
                    <a:pt x="18578" y="208264"/>
                    <a:pt x="11326" y="201012"/>
                  </a:cubicBezTo>
                  <a:cubicBezTo>
                    <a:pt x="4074" y="193761"/>
                    <a:pt x="0" y="183925"/>
                    <a:pt x="0" y="173669"/>
                  </a:cubicBezTo>
                  <a:lnTo>
                    <a:pt x="0" y="38669"/>
                  </a:lnTo>
                  <a:cubicBezTo>
                    <a:pt x="0" y="28413"/>
                    <a:pt x="4074" y="18578"/>
                    <a:pt x="11326" y="11326"/>
                  </a:cubicBezTo>
                  <a:cubicBezTo>
                    <a:pt x="18578" y="4074"/>
                    <a:pt x="28413" y="0"/>
                    <a:pt x="38669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344637" cy="259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20519" y="540633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搜尋演算法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06593" y="1405805"/>
            <a:ext cx="27619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餘弦相似程度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2948" y="2731162"/>
            <a:ext cx="1359832" cy="53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16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作法4: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99840" y="3670741"/>
            <a:ext cx="9499279" cy="43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801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用公式「P1.pre / SQRT(P2.pre* P3.pre)」計算相似度投影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02948" y="4749395"/>
            <a:ext cx="1239171" cy="53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16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作法5: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344122" y="5433385"/>
            <a:ext cx="11599757" cy="924717"/>
            <a:chOff x="0" y="0"/>
            <a:chExt cx="2663595" cy="2123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63595" cy="212338"/>
            </a:xfrm>
            <a:custGeom>
              <a:avLst/>
              <a:gdLst/>
              <a:ahLst/>
              <a:cxnLst/>
              <a:rect l="l" t="t" r="r" b="b"/>
              <a:pathLst>
                <a:path w="2663595" h="212338">
                  <a:moveTo>
                    <a:pt x="34038" y="0"/>
                  </a:moveTo>
                  <a:lnTo>
                    <a:pt x="2629557" y="0"/>
                  </a:lnTo>
                  <a:cubicBezTo>
                    <a:pt x="2648356" y="0"/>
                    <a:pt x="2663595" y="15240"/>
                    <a:pt x="2663595" y="34038"/>
                  </a:cubicBezTo>
                  <a:lnTo>
                    <a:pt x="2663595" y="178300"/>
                  </a:lnTo>
                  <a:cubicBezTo>
                    <a:pt x="2663595" y="187327"/>
                    <a:pt x="2660009" y="195985"/>
                    <a:pt x="2653626" y="202369"/>
                  </a:cubicBezTo>
                  <a:cubicBezTo>
                    <a:pt x="2647242" y="208752"/>
                    <a:pt x="2638584" y="212338"/>
                    <a:pt x="2629557" y="212338"/>
                  </a:cubicBezTo>
                  <a:lnTo>
                    <a:pt x="34038" y="212338"/>
                  </a:lnTo>
                  <a:cubicBezTo>
                    <a:pt x="25011" y="212338"/>
                    <a:pt x="16353" y="208752"/>
                    <a:pt x="9970" y="202369"/>
                  </a:cubicBezTo>
                  <a:cubicBezTo>
                    <a:pt x="3586" y="195985"/>
                    <a:pt x="0" y="187327"/>
                    <a:pt x="0" y="178300"/>
                  </a:cubicBezTo>
                  <a:lnTo>
                    <a:pt x="0" y="34038"/>
                  </a:lnTo>
                  <a:cubicBezTo>
                    <a:pt x="0" y="25011"/>
                    <a:pt x="3586" y="16353"/>
                    <a:pt x="9970" y="9970"/>
                  </a:cubicBezTo>
                  <a:cubicBezTo>
                    <a:pt x="16353" y="3586"/>
                    <a:pt x="25011" y="0"/>
                    <a:pt x="34038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663595" cy="259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99840" y="5675547"/>
            <a:ext cx="11082960" cy="433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801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用Natural</a:t>
            </a:r>
            <a:r>
              <a:rPr lang="en-US" sz="2801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sz="2801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JOIN合併read計算「A與B的相似度×B對書本的喜好程度</a:t>
            </a:r>
            <a:r>
              <a:rPr lang="en-US" sz="2801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02948" y="6754200"/>
            <a:ext cx="1359832" cy="53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16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作法6: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44122" y="7438190"/>
            <a:ext cx="8497157" cy="924717"/>
            <a:chOff x="0" y="0"/>
            <a:chExt cx="1951160" cy="2123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51160" cy="212338"/>
            </a:xfrm>
            <a:custGeom>
              <a:avLst/>
              <a:gdLst/>
              <a:ahLst/>
              <a:cxnLst/>
              <a:rect l="l" t="t" r="r" b="b"/>
              <a:pathLst>
                <a:path w="1951160" h="212338">
                  <a:moveTo>
                    <a:pt x="46467" y="0"/>
                  </a:moveTo>
                  <a:lnTo>
                    <a:pt x="1904693" y="0"/>
                  </a:lnTo>
                  <a:cubicBezTo>
                    <a:pt x="1917017" y="0"/>
                    <a:pt x="1928836" y="4896"/>
                    <a:pt x="1937551" y="13610"/>
                  </a:cubicBezTo>
                  <a:cubicBezTo>
                    <a:pt x="1946265" y="22324"/>
                    <a:pt x="1951160" y="34143"/>
                    <a:pt x="1951160" y="46467"/>
                  </a:cubicBezTo>
                  <a:lnTo>
                    <a:pt x="1951160" y="165871"/>
                  </a:lnTo>
                  <a:cubicBezTo>
                    <a:pt x="1951160" y="178195"/>
                    <a:pt x="1946265" y="190014"/>
                    <a:pt x="1937551" y="198728"/>
                  </a:cubicBezTo>
                  <a:cubicBezTo>
                    <a:pt x="1928836" y="207443"/>
                    <a:pt x="1917017" y="212338"/>
                    <a:pt x="1904693" y="212338"/>
                  </a:cubicBezTo>
                  <a:lnTo>
                    <a:pt x="46467" y="212338"/>
                  </a:lnTo>
                  <a:cubicBezTo>
                    <a:pt x="34143" y="212338"/>
                    <a:pt x="22324" y="207443"/>
                    <a:pt x="13610" y="198728"/>
                  </a:cubicBezTo>
                  <a:cubicBezTo>
                    <a:pt x="4896" y="190014"/>
                    <a:pt x="0" y="178195"/>
                    <a:pt x="0" y="165871"/>
                  </a:cubicBezTo>
                  <a:lnTo>
                    <a:pt x="0" y="46467"/>
                  </a:lnTo>
                  <a:cubicBezTo>
                    <a:pt x="0" y="34143"/>
                    <a:pt x="4896" y="22324"/>
                    <a:pt x="13610" y="13610"/>
                  </a:cubicBezTo>
                  <a:cubicBezTo>
                    <a:pt x="22324" y="4896"/>
                    <a:pt x="34143" y="0"/>
                    <a:pt x="46467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951160" cy="259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699840" y="7680352"/>
            <a:ext cx="7960668" cy="43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801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最後將預測出的喜好程度進行排列，推薦給使用者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80684">
            <a:off x="10448827" y="7597759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624874">
            <a:off x="-732548" y="92303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5215229" y="-1485825"/>
            <a:ext cx="5097816" cy="5029049"/>
            <a:chOff x="0" y="0"/>
            <a:chExt cx="6797088" cy="6705399"/>
          </a:xfrm>
        </p:grpSpPr>
        <p:sp>
          <p:nvSpPr>
            <p:cNvPr id="7" name="Freeform 7"/>
            <p:cNvSpPr/>
            <p:nvPr/>
          </p:nvSpPr>
          <p:spPr>
            <a:xfrm rot="2830696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8"/>
            <p:cNvSpPr/>
            <p:nvPr/>
          </p:nvSpPr>
          <p:spPr>
            <a:xfrm rot="2830696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0" y="0"/>
                  </a:moveTo>
                  <a:lnTo>
                    <a:pt x="3780628" y="0"/>
                  </a:lnTo>
                  <a:lnTo>
                    <a:pt x="37806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398584" y="1466731"/>
            <a:ext cx="9248305" cy="1238738"/>
            <a:chOff x="0" y="0"/>
            <a:chExt cx="2435768" cy="326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5768" cy="326252"/>
            </a:xfrm>
            <a:custGeom>
              <a:avLst/>
              <a:gdLst/>
              <a:ahLst/>
              <a:cxnLst/>
              <a:rect l="l" t="t" r="r" b="b"/>
              <a:pathLst>
                <a:path w="2435768" h="326252">
                  <a:moveTo>
                    <a:pt x="42693" y="0"/>
                  </a:moveTo>
                  <a:lnTo>
                    <a:pt x="2393075" y="0"/>
                  </a:lnTo>
                  <a:cubicBezTo>
                    <a:pt x="2404397" y="0"/>
                    <a:pt x="2415257" y="4498"/>
                    <a:pt x="2423263" y="12504"/>
                  </a:cubicBezTo>
                  <a:cubicBezTo>
                    <a:pt x="2431270" y="20511"/>
                    <a:pt x="2435768" y="31370"/>
                    <a:pt x="2435768" y="42693"/>
                  </a:cubicBezTo>
                  <a:lnTo>
                    <a:pt x="2435768" y="283559"/>
                  </a:lnTo>
                  <a:cubicBezTo>
                    <a:pt x="2435768" y="294882"/>
                    <a:pt x="2431270" y="305741"/>
                    <a:pt x="2423263" y="313748"/>
                  </a:cubicBezTo>
                  <a:cubicBezTo>
                    <a:pt x="2415257" y="321754"/>
                    <a:pt x="2404397" y="326252"/>
                    <a:pt x="2393075" y="326252"/>
                  </a:cubicBezTo>
                  <a:lnTo>
                    <a:pt x="42693" y="326252"/>
                  </a:lnTo>
                  <a:cubicBezTo>
                    <a:pt x="31370" y="326252"/>
                    <a:pt x="20511" y="321754"/>
                    <a:pt x="12504" y="313748"/>
                  </a:cubicBezTo>
                  <a:cubicBezTo>
                    <a:pt x="4498" y="305741"/>
                    <a:pt x="0" y="294882"/>
                    <a:pt x="0" y="283559"/>
                  </a:cubicBezTo>
                  <a:lnTo>
                    <a:pt x="0" y="42693"/>
                  </a:lnTo>
                  <a:cubicBezTo>
                    <a:pt x="0" y="31370"/>
                    <a:pt x="4498" y="20511"/>
                    <a:pt x="12504" y="12504"/>
                  </a:cubicBezTo>
                  <a:cubicBezTo>
                    <a:pt x="20511" y="4498"/>
                    <a:pt x="31370" y="0"/>
                    <a:pt x="42693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35768" cy="37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79767" y="3059159"/>
            <a:ext cx="12681503" cy="6721197"/>
          </a:xfrm>
          <a:custGeom>
            <a:avLst/>
            <a:gdLst/>
            <a:ahLst/>
            <a:cxnLst/>
            <a:rect l="l" t="t" r="r" b="b"/>
            <a:pathLst>
              <a:path w="12681503" h="6721197">
                <a:moveTo>
                  <a:pt x="0" y="0"/>
                </a:moveTo>
                <a:lnTo>
                  <a:pt x="12681503" y="0"/>
                </a:lnTo>
                <a:lnTo>
                  <a:pt x="12681503" y="6721196"/>
                </a:lnTo>
                <a:lnTo>
                  <a:pt x="0" y="67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6249100" y="309244"/>
            <a:ext cx="3204906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實體建置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20519" y="540633"/>
            <a:ext cx="2960772" cy="712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4628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網頁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3251" y="3049634"/>
            <a:ext cx="1198714" cy="58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sz="3774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首頁: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9405" y="1701207"/>
            <a:ext cx="8614390" cy="114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網頁使用Html搭配CSS，運用Flask框架，以及pymysql語法調用mysql資料庫，可直接在python 檔裡面使用mysql的指令</a:t>
            </a:r>
          </a:p>
          <a:p>
            <a:pPr algn="l">
              <a:lnSpc>
                <a:spcPts val="3038"/>
              </a:lnSpc>
            </a:pPr>
            <a:endParaRPr lang="en-US" sz="2442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2832392" y="2992540"/>
            <a:ext cx="11079539" cy="2742186"/>
          </a:xfrm>
          <a:custGeom>
            <a:avLst/>
            <a:gdLst/>
            <a:ahLst/>
            <a:cxnLst/>
            <a:rect l="l" t="t" r="r" b="b"/>
            <a:pathLst>
              <a:path w="11079539" h="2742186">
                <a:moveTo>
                  <a:pt x="0" y="0"/>
                </a:moveTo>
                <a:lnTo>
                  <a:pt x="11079539" y="0"/>
                </a:lnTo>
                <a:lnTo>
                  <a:pt x="11079539" y="2742186"/>
                </a:lnTo>
                <a:lnTo>
                  <a:pt x="0" y="2742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2832392" y="6434894"/>
            <a:ext cx="6363693" cy="2518008"/>
          </a:xfrm>
          <a:custGeom>
            <a:avLst/>
            <a:gdLst/>
            <a:ahLst/>
            <a:cxnLst/>
            <a:rect l="l" t="t" r="r" b="b"/>
            <a:pathLst>
              <a:path w="6363693" h="2518008">
                <a:moveTo>
                  <a:pt x="0" y="0"/>
                </a:moveTo>
                <a:lnTo>
                  <a:pt x="6363693" y="0"/>
                </a:lnTo>
                <a:lnTo>
                  <a:pt x="6363693" y="2518008"/>
                </a:lnTo>
                <a:lnTo>
                  <a:pt x="0" y="25180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8320077" y="318366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5871" y="1364313"/>
            <a:ext cx="757625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驗證1：所有書籍均需登錄於該系統內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2392" y="2518514"/>
            <a:ext cx="5785895" cy="37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43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事先將書籍資料整理成CSV檔匯入資料庫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2392" y="5962754"/>
            <a:ext cx="5209823" cy="37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43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再用pymysql語法導入mojoin資料庫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77487" y="5962754"/>
            <a:ext cx="3011168" cy="47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sz="307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執行結果(影片):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77487" y="6520619"/>
            <a:ext cx="7125968" cy="14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  <a:spcBef>
                <a:spcPct val="0"/>
              </a:spcBef>
            </a:pPr>
            <a:r>
              <a:rPr lang="en-US" sz="3072" b="1" u="sng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  <a:hlinkClick r:id="rId12" tooltip="https://drive.google.com/file/d/16g_-BDxb69mNJb_FWWzcmkXYvZ6Mly6K/view?usp=sharing"/>
              </a:rPr>
              <a:t>https://drive.google.com/file/d/16g_-BDxb69mNJb_FWWzcmkXYvZ6Mly6K/view?usp=sharing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978379" y="2897290"/>
            <a:ext cx="10331242" cy="6999417"/>
          </a:xfrm>
          <a:custGeom>
            <a:avLst/>
            <a:gdLst/>
            <a:ahLst/>
            <a:cxnLst/>
            <a:rect l="l" t="t" r="r" b="b"/>
            <a:pathLst>
              <a:path w="10331242" h="6999417">
                <a:moveTo>
                  <a:pt x="0" y="0"/>
                </a:moveTo>
                <a:lnTo>
                  <a:pt x="10331242" y="0"/>
                </a:lnTo>
                <a:lnTo>
                  <a:pt x="10331242" y="6999417"/>
                </a:lnTo>
                <a:lnTo>
                  <a:pt x="0" y="6999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320077" y="318366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9692" y="1364313"/>
            <a:ext cx="763278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驗證2：可瀏覽網頁中所有書籍的資訊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8379" y="2138439"/>
            <a:ext cx="1074449" cy="57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  <a:spcBef>
                <a:spcPct val="0"/>
              </a:spcBef>
            </a:pPr>
            <a:r>
              <a:rPr lang="en-US" sz="373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程式: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493371" y="4437556"/>
            <a:ext cx="11301259" cy="5226832"/>
          </a:xfrm>
          <a:custGeom>
            <a:avLst/>
            <a:gdLst/>
            <a:ahLst/>
            <a:cxnLst/>
            <a:rect l="l" t="t" r="r" b="b"/>
            <a:pathLst>
              <a:path w="11301259" h="5226832">
                <a:moveTo>
                  <a:pt x="0" y="0"/>
                </a:moveTo>
                <a:lnTo>
                  <a:pt x="11301258" y="0"/>
                </a:lnTo>
                <a:lnTo>
                  <a:pt x="11301258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320077" y="318366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9692" y="1364313"/>
            <a:ext cx="763278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驗證2：可瀏覽網頁中所有書籍的資訊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93371" y="2138439"/>
            <a:ext cx="2062001" cy="57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2"/>
              </a:lnSpc>
              <a:spcBef>
                <a:spcPct val="0"/>
              </a:spcBef>
            </a:pPr>
            <a:r>
              <a:rPr lang="en-US" sz="373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執行結果: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521935" y="2897290"/>
            <a:ext cx="11272695" cy="1177016"/>
            <a:chOff x="0" y="0"/>
            <a:chExt cx="2968940" cy="3099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68940" cy="309996"/>
            </a:xfrm>
            <a:custGeom>
              <a:avLst/>
              <a:gdLst/>
              <a:ahLst/>
              <a:cxnLst/>
              <a:rect l="l" t="t" r="r" b="b"/>
              <a:pathLst>
                <a:path w="2968940" h="309996">
                  <a:moveTo>
                    <a:pt x="35026" y="0"/>
                  </a:moveTo>
                  <a:lnTo>
                    <a:pt x="2933914" y="0"/>
                  </a:lnTo>
                  <a:cubicBezTo>
                    <a:pt x="2953259" y="0"/>
                    <a:pt x="2968940" y="15682"/>
                    <a:pt x="2968940" y="35026"/>
                  </a:cubicBezTo>
                  <a:lnTo>
                    <a:pt x="2968940" y="274970"/>
                  </a:lnTo>
                  <a:cubicBezTo>
                    <a:pt x="2968940" y="294314"/>
                    <a:pt x="2953259" y="309996"/>
                    <a:pt x="2933914" y="309996"/>
                  </a:cubicBezTo>
                  <a:lnTo>
                    <a:pt x="35026" y="309996"/>
                  </a:lnTo>
                  <a:cubicBezTo>
                    <a:pt x="15682" y="309996"/>
                    <a:pt x="0" y="294314"/>
                    <a:pt x="0" y="274970"/>
                  </a:cubicBezTo>
                  <a:lnTo>
                    <a:pt x="0" y="35026"/>
                  </a:lnTo>
                  <a:cubicBezTo>
                    <a:pt x="0" y="15682"/>
                    <a:pt x="15682" y="0"/>
                    <a:pt x="35026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968940" cy="357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962756" y="3131766"/>
            <a:ext cx="10527772" cy="7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每本小說的頁面都會顯示其書名、作者、出版社、類別、狀態、簡介與Tag，而閱讀按鍵會連結到小說網站。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4394580" y="2049040"/>
            <a:ext cx="9498840" cy="2667653"/>
          </a:xfrm>
          <a:custGeom>
            <a:avLst/>
            <a:gdLst/>
            <a:ahLst/>
            <a:cxnLst/>
            <a:rect l="l" t="t" r="r" b="b"/>
            <a:pathLst>
              <a:path w="9498840" h="2667653">
                <a:moveTo>
                  <a:pt x="0" y="0"/>
                </a:moveTo>
                <a:lnTo>
                  <a:pt x="9498840" y="0"/>
                </a:lnTo>
                <a:lnTo>
                  <a:pt x="9498840" y="2667653"/>
                </a:lnTo>
                <a:lnTo>
                  <a:pt x="0" y="2667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07518" y="1364313"/>
            <a:ext cx="907296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驗證3：可經由類型、出版社、作者篩選書籍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6318" y="549057"/>
            <a:ext cx="2497672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類型篩選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1642" y="4923053"/>
            <a:ext cx="3224002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篩選類別：青春校園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19011" y="5479228"/>
            <a:ext cx="8849977" cy="4668363"/>
          </a:xfrm>
          <a:custGeom>
            <a:avLst/>
            <a:gdLst/>
            <a:ahLst/>
            <a:cxnLst/>
            <a:rect l="l" t="t" r="r" b="b"/>
            <a:pathLst>
              <a:path w="8849977" h="4668363">
                <a:moveTo>
                  <a:pt x="0" y="0"/>
                </a:moveTo>
                <a:lnTo>
                  <a:pt x="8849978" y="0"/>
                </a:lnTo>
                <a:lnTo>
                  <a:pt x="8849978" y="4668363"/>
                </a:lnTo>
                <a:lnTo>
                  <a:pt x="0" y="4668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4326701" y="2049040"/>
            <a:ext cx="9634597" cy="2754555"/>
          </a:xfrm>
          <a:custGeom>
            <a:avLst/>
            <a:gdLst/>
            <a:ahLst/>
            <a:cxnLst/>
            <a:rect l="l" t="t" r="r" b="b"/>
            <a:pathLst>
              <a:path w="9634597" h="2754555">
                <a:moveTo>
                  <a:pt x="0" y="0"/>
                </a:moveTo>
                <a:lnTo>
                  <a:pt x="9634598" y="0"/>
                </a:lnTo>
                <a:lnTo>
                  <a:pt x="9634598" y="2754555"/>
                </a:lnTo>
                <a:lnTo>
                  <a:pt x="0" y="27545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4719011" y="5479228"/>
            <a:ext cx="8849977" cy="4668363"/>
          </a:xfrm>
          <a:custGeom>
            <a:avLst/>
            <a:gdLst/>
            <a:ahLst/>
            <a:cxnLst/>
            <a:rect l="l" t="t" r="r" b="b"/>
            <a:pathLst>
              <a:path w="8849977" h="4668363">
                <a:moveTo>
                  <a:pt x="0" y="0"/>
                </a:moveTo>
                <a:lnTo>
                  <a:pt x="8849978" y="0"/>
                </a:lnTo>
                <a:lnTo>
                  <a:pt x="8849978" y="4668363"/>
                </a:lnTo>
                <a:lnTo>
                  <a:pt x="0" y="4668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7518" y="1364313"/>
            <a:ext cx="907296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驗證3：可經由類型、出版社、作者篩選書籍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46318" y="549057"/>
            <a:ext cx="3016692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出版社篩選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1642" y="4923053"/>
            <a:ext cx="3552714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篩選出版社：飛燕文創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4326701" y="2076416"/>
            <a:ext cx="9634597" cy="2741862"/>
          </a:xfrm>
          <a:custGeom>
            <a:avLst/>
            <a:gdLst/>
            <a:ahLst/>
            <a:cxnLst/>
            <a:rect l="l" t="t" r="r" b="b"/>
            <a:pathLst>
              <a:path w="9634597" h="2741862">
                <a:moveTo>
                  <a:pt x="0" y="0"/>
                </a:moveTo>
                <a:lnTo>
                  <a:pt x="9634598" y="0"/>
                </a:lnTo>
                <a:lnTo>
                  <a:pt x="9634598" y="2741862"/>
                </a:lnTo>
                <a:lnTo>
                  <a:pt x="0" y="2741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4607518" y="5479228"/>
            <a:ext cx="8808232" cy="4668363"/>
          </a:xfrm>
          <a:custGeom>
            <a:avLst/>
            <a:gdLst/>
            <a:ahLst/>
            <a:cxnLst/>
            <a:rect l="l" t="t" r="r" b="b"/>
            <a:pathLst>
              <a:path w="8808232" h="4668363">
                <a:moveTo>
                  <a:pt x="0" y="0"/>
                </a:moveTo>
                <a:lnTo>
                  <a:pt x="8808232" y="0"/>
                </a:lnTo>
                <a:lnTo>
                  <a:pt x="8808232" y="4668363"/>
                </a:lnTo>
                <a:lnTo>
                  <a:pt x="0" y="4668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7518" y="1364313"/>
            <a:ext cx="907296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驗證3：可經由類型、出版社、作者篩選書籍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46318" y="549057"/>
            <a:ext cx="235926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作者篩選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1642" y="4923053"/>
            <a:ext cx="2480073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篩選作者：芙蘿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455477" y="2325851"/>
            <a:ext cx="7601955" cy="1238738"/>
            <a:chOff x="0" y="0"/>
            <a:chExt cx="2002161" cy="3262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2161" cy="326252"/>
            </a:xfrm>
            <a:custGeom>
              <a:avLst/>
              <a:gdLst/>
              <a:ahLst/>
              <a:cxnLst/>
              <a:rect l="l" t="t" r="r" b="b"/>
              <a:pathLst>
                <a:path w="2002161" h="326252">
                  <a:moveTo>
                    <a:pt x="51939" y="0"/>
                  </a:moveTo>
                  <a:lnTo>
                    <a:pt x="1950222" y="0"/>
                  </a:lnTo>
                  <a:cubicBezTo>
                    <a:pt x="1978907" y="0"/>
                    <a:pt x="2002161" y="23254"/>
                    <a:pt x="2002161" y="51939"/>
                  </a:cubicBezTo>
                  <a:lnTo>
                    <a:pt x="2002161" y="274313"/>
                  </a:lnTo>
                  <a:cubicBezTo>
                    <a:pt x="2002161" y="302998"/>
                    <a:pt x="1978907" y="326252"/>
                    <a:pt x="1950222" y="326252"/>
                  </a:cubicBezTo>
                  <a:lnTo>
                    <a:pt x="51939" y="326252"/>
                  </a:lnTo>
                  <a:cubicBezTo>
                    <a:pt x="23254" y="326252"/>
                    <a:pt x="0" y="302998"/>
                    <a:pt x="0" y="274313"/>
                  </a:cubicBezTo>
                  <a:lnTo>
                    <a:pt x="0" y="51939"/>
                  </a:lnTo>
                  <a:cubicBezTo>
                    <a:pt x="0" y="23254"/>
                    <a:pt x="23254" y="0"/>
                    <a:pt x="51939" y="0"/>
                  </a:cubicBezTo>
                  <a:close/>
                </a:path>
              </a:pathLst>
            </a:custGeom>
            <a:solidFill>
              <a:srgbClr val="E7E7E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02161" cy="37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025586" y="4108779"/>
            <a:ext cx="12902558" cy="4394111"/>
          </a:xfrm>
          <a:custGeom>
            <a:avLst/>
            <a:gdLst/>
            <a:ahLst/>
            <a:cxnLst/>
            <a:rect l="l" t="t" r="r" b="b"/>
            <a:pathLst>
              <a:path w="12902558" h="4394111">
                <a:moveTo>
                  <a:pt x="0" y="0"/>
                </a:moveTo>
                <a:lnTo>
                  <a:pt x="12902558" y="0"/>
                </a:lnTo>
                <a:lnTo>
                  <a:pt x="12902558" y="4394110"/>
                </a:lnTo>
                <a:lnTo>
                  <a:pt x="0" y="439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9171" y="1364313"/>
            <a:ext cx="11754567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驗證4：可經由作者姓名、書籍名稱、出版社名稱或關鍵字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46318" y="549057"/>
            <a:ext cx="235926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查找書籍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6298" y="2560327"/>
            <a:ext cx="7161134" cy="114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44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可依據使用者在Search欄位輸入之字詞查詢作者、書名、出版社等欄位包含該字詞的小說</a:t>
            </a:r>
          </a:p>
          <a:p>
            <a:pPr algn="l">
              <a:lnSpc>
                <a:spcPts val="3038"/>
              </a:lnSpc>
            </a:pPr>
            <a:endParaRPr lang="en-US" sz="2442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14770" y="3909388"/>
            <a:ext cx="8556745" cy="4535075"/>
          </a:xfrm>
          <a:custGeom>
            <a:avLst/>
            <a:gdLst/>
            <a:ahLst/>
            <a:cxnLst/>
            <a:rect l="l" t="t" r="r" b="b"/>
            <a:pathLst>
              <a:path w="8556745" h="4535075">
                <a:moveTo>
                  <a:pt x="0" y="0"/>
                </a:moveTo>
                <a:lnTo>
                  <a:pt x="8556745" y="0"/>
                </a:lnTo>
                <a:lnTo>
                  <a:pt x="8556745" y="4535075"/>
                </a:lnTo>
                <a:lnTo>
                  <a:pt x="0" y="4535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721380" y="2716464"/>
            <a:ext cx="3743525" cy="999389"/>
            <a:chOff x="0" y="-47625"/>
            <a:chExt cx="985949" cy="2632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5949" cy="215589"/>
            </a:xfrm>
            <a:custGeom>
              <a:avLst/>
              <a:gdLst/>
              <a:ahLst/>
              <a:cxnLst/>
              <a:rect l="l" t="t" r="r" b="b"/>
              <a:pathLst>
                <a:path w="985949" h="215589">
                  <a:moveTo>
                    <a:pt x="105472" y="0"/>
                  </a:moveTo>
                  <a:lnTo>
                    <a:pt x="880477" y="0"/>
                  </a:lnTo>
                  <a:cubicBezTo>
                    <a:pt x="938727" y="0"/>
                    <a:pt x="985949" y="47222"/>
                    <a:pt x="985949" y="105472"/>
                  </a:cubicBezTo>
                  <a:lnTo>
                    <a:pt x="985949" y="110116"/>
                  </a:lnTo>
                  <a:cubicBezTo>
                    <a:pt x="985949" y="168367"/>
                    <a:pt x="938727" y="215589"/>
                    <a:pt x="880477" y="215589"/>
                  </a:cubicBezTo>
                  <a:lnTo>
                    <a:pt x="105472" y="215589"/>
                  </a:lnTo>
                  <a:cubicBezTo>
                    <a:pt x="77499" y="215589"/>
                    <a:pt x="50672" y="204476"/>
                    <a:pt x="30892" y="184696"/>
                  </a:cubicBezTo>
                  <a:cubicBezTo>
                    <a:pt x="11112" y="164917"/>
                    <a:pt x="0" y="138089"/>
                    <a:pt x="0" y="110116"/>
                  </a:cubicBezTo>
                  <a:lnTo>
                    <a:pt x="0" y="105472"/>
                  </a:lnTo>
                  <a:cubicBezTo>
                    <a:pt x="0" y="47222"/>
                    <a:pt x="47222" y="0"/>
                    <a:pt x="105472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85949" cy="26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304075" y="2897290"/>
            <a:ext cx="4781565" cy="818563"/>
            <a:chOff x="0" y="0"/>
            <a:chExt cx="1259342" cy="2155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9342" cy="215589"/>
            </a:xfrm>
            <a:custGeom>
              <a:avLst/>
              <a:gdLst/>
              <a:ahLst/>
              <a:cxnLst/>
              <a:rect l="l" t="t" r="r" b="b"/>
              <a:pathLst>
                <a:path w="1259342" h="215589">
                  <a:moveTo>
                    <a:pt x="82575" y="0"/>
                  </a:moveTo>
                  <a:lnTo>
                    <a:pt x="1176767" y="0"/>
                  </a:lnTo>
                  <a:cubicBezTo>
                    <a:pt x="1198667" y="0"/>
                    <a:pt x="1219671" y="8700"/>
                    <a:pt x="1235156" y="24186"/>
                  </a:cubicBezTo>
                  <a:cubicBezTo>
                    <a:pt x="1250642" y="39671"/>
                    <a:pt x="1259342" y="60675"/>
                    <a:pt x="1259342" y="82575"/>
                  </a:cubicBezTo>
                  <a:lnTo>
                    <a:pt x="1259342" y="133013"/>
                  </a:lnTo>
                  <a:cubicBezTo>
                    <a:pt x="1259342" y="178618"/>
                    <a:pt x="1222372" y="215589"/>
                    <a:pt x="1176767" y="215589"/>
                  </a:cubicBezTo>
                  <a:lnTo>
                    <a:pt x="82575" y="215589"/>
                  </a:lnTo>
                  <a:cubicBezTo>
                    <a:pt x="60675" y="215589"/>
                    <a:pt x="39671" y="206889"/>
                    <a:pt x="24186" y="191403"/>
                  </a:cubicBezTo>
                  <a:cubicBezTo>
                    <a:pt x="8700" y="175917"/>
                    <a:pt x="0" y="154914"/>
                    <a:pt x="0" y="133013"/>
                  </a:cubicBezTo>
                  <a:lnTo>
                    <a:pt x="0" y="82575"/>
                  </a:lnTo>
                  <a:cubicBezTo>
                    <a:pt x="0" y="60675"/>
                    <a:pt x="8700" y="39671"/>
                    <a:pt x="24186" y="24186"/>
                  </a:cubicBezTo>
                  <a:cubicBezTo>
                    <a:pt x="39671" y="8700"/>
                    <a:pt x="60675" y="0"/>
                    <a:pt x="82575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59342" cy="26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416485" y="3909388"/>
            <a:ext cx="8556745" cy="4535075"/>
          </a:xfrm>
          <a:custGeom>
            <a:avLst/>
            <a:gdLst/>
            <a:ahLst/>
            <a:cxnLst/>
            <a:rect l="l" t="t" r="r" b="b"/>
            <a:pathLst>
              <a:path w="8556745" h="4535075">
                <a:moveTo>
                  <a:pt x="0" y="0"/>
                </a:moveTo>
                <a:lnTo>
                  <a:pt x="8556745" y="0"/>
                </a:lnTo>
                <a:lnTo>
                  <a:pt x="8556745" y="4535075"/>
                </a:lnTo>
                <a:lnTo>
                  <a:pt x="0" y="4535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79171" y="1364313"/>
            <a:ext cx="11754567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驗證4：可經由作者姓名、書籍名稱、出版社名稱或關鍵字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46318" y="549057"/>
            <a:ext cx="235926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查找書籍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25079" y="3085419"/>
            <a:ext cx="3539826" cy="432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 dirty="0" err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搜尋作者姓名「吐維</a:t>
            </a:r>
            <a:r>
              <a:rPr lang="en-US" sz="2742" b="1" dirty="0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13544" y="3076323"/>
            <a:ext cx="4572096" cy="432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 dirty="0" err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搜尋書籍名稱「童話開膛手</a:t>
            </a:r>
            <a:r>
              <a:rPr lang="en-US" sz="2742" b="1" dirty="0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392196" y="2892742"/>
            <a:ext cx="4401893" cy="818563"/>
            <a:chOff x="0" y="0"/>
            <a:chExt cx="1159346" cy="2155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9346" cy="215589"/>
            </a:xfrm>
            <a:custGeom>
              <a:avLst/>
              <a:gdLst/>
              <a:ahLst/>
              <a:cxnLst/>
              <a:rect l="l" t="t" r="r" b="b"/>
              <a:pathLst>
                <a:path w="1159346" h="215589">
                  <a:moveTo>
                    <a:pt x="89697" y="0"/>
                  </a:moveTo>
                  <a:lnTo>
                    <a:pt x="1069649" y="0"/>
                  </a:lnTo>
                  <a:cubicBezTo>
                    <a:pt x="1093438" y="0"/>
                    <a:pt x="1116253" y="9450"/>
                    <a:pt x="1133075" y="26272"/>
                  </a:cubicBezTo>
                  <a:cubicBezTo>
                    <a:pt x="1149896" y="43093"/>
                    <a:pt x="1159346" y="65908"/>
                    <a:pt x="1159346" y="89697"/>
                  </a:cubicBezTo>
                  <a:lnTo>
                    <a:pt x="1159346" y="125891"/>
                  </a:lnTo>
                  <a:cubicBezTo>
                    <a:pt x="1159346" y="149680"/>
                    <a:pt x="1149896" y="172495"/>
                    <a:pt x="1133075" y="189317"/>
                  </a:cubicBezTo>
                  <a:cubicBezTo>
                    <a:pt x="1116253" y="206138"/>
                    <a:pt x="1093438" y="215589"/>
                    <a:pt x="1069649" y="215589"/>
                  </a:cubicBezTo>
                  <a:lnTo>
                    <a:pt x="89697" y="215589"/>
                  </a:lnTo>
                  <a:cubicBezTo>
                    <a:pt x="65908" y="215589"/>
                    <a:pt x="43093" y="206138"/>
                    <a:pt x="26272" y="189317"/>
                  </a:cubicBezTo>
                  <a:cubicBezTo>
                    <a:pt x="9450" y="172495"/>
                    <a:pt x="0" y="149680"/>
                    <a:pt x="0" y="125891"/>
                  </a:cubicBezTo>
                  <a:lnTo>
                    <a:pt x="0" y="89697"/>
                  </a:lnTo>
                  <a:cubicBezTo>
                    <a:pt x="0" y="65908"/>
                    <a:pt x="9450" y="43093"/>
                    <a:pt x="26272" y="26272"/>
                  </a:cubicBezTo>
                  <a:cubicBezTo>
                    <a:pt x="43093" y="9450"/>
                    <a:pt x="65908" y="0"/>
                    <a:pt x="89697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59346" cy="26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90440" y="2897290"/>
            <a:ext cx="3668640" cy="818563"/>
            <a:chOff x="0" y="0"/>
            <a:chExt cx="966226" cy="2155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6226" cy="215589"/>
            </a:xfrm>
            <a:custGeom>
              <a:avLst/>
              <a:gdLst/>
              <a:ahLst/>
              <a:cxnLst/>
              <a:rect l="l" t="t" r="r" b="b"/>
              <a:pathLst>
                <a:path w="966226" h="215589">
                  <a:moveTo>
                    <a:pt x="107625" y="0"/>
                  </a:moveTo>
                  <a:lnTo>
                    <a:pt x="858601" y="0"/>
                  </a:lnTo>
                  <a:cubicBezTo>
                    <a:pt x="918041" y="0"/>
                    <a:pt x="966226" y="48185"/>
                    <a:pt x="966226" y="107625"/>
                  </a:cubicBezTo>
                  <a:lnTo>
                    <a:pt x="966226" y="107963"/>
                  </a:lnTo>
                  <a:cubicBezTo>
                    <a:pt x="966226" y="167403"/>
                    <a:pt x="918041" y="215589"/>
                    <a:pt x="858601" y="215589"/>
                  </a:cubicBezTo>
                  <a:lnTo>
                    <a:pt x="107625" y="215589"/>
                  </a:lnTo>
                  <a:cubicBezTo>
                    <a:pt x="48185" y="215589"/>
                    <a:pt x="0" y="167403"/>
                    <a:pt x="0" y="107963"/>
                  </a:cubicBezTo>
                  <a:lnTo>
                    <a:pt x="0" y="107625"/>
                  </a:lnTo>
                  <a:cubicBezTo>
                    <a:pt x="0" y="48185"/>
                    <a:pt x="48185" y="0"/>
                    <a:pt x="107625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66226" cy="26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339560" y="3909388"/>
            <a:ext cx="8536611" cy="4535075"/>
          </a:xfrm>
          <a:custGeom>
            <a:avLst/>
            <a:gdLst/>
            <a:ahLst/>
            <a:cxnLst/>
            <a:rect l="l" t="t" r="r" b="b"/>
            <a:pathLst>
              <a:path w="8536611" h="4535075">
                <a:moveTo>
                  <a:pt x="0" y="0"/>
                </a:moveTo>
                <a:lnTo>
                  <a:pt x="8536611" y="0"/>
                </a:lnTo>
                <a:lnTo>
                  <a:pt x="8536611" y="4535075"/>
                </a:lnTo>
                <a:lnTo>
                  <a:pt x="0" y="4535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9256454" y="3915878"/>
            <a:ext cx="8536611" cy="4535075"/>
          </a:xfrm>
          <a:custGeom>
            <a:avLst/>
            <a:gdLst/>
            <a:ahLst/>
            <a:cxnLst/>
            <a:rect l="l" t="t" r="r" b="b"/>
            <a:pathLst>
              <a:path w="8536611" h="4535075">
                <a:moveTo>
                  <a:pt x="0" y="0"/>
                </a:moveTo>
                <a:lnTo>
                  <a:pt x="8536612" y="0"/>
                </a:lnTo>
                <a:lnTo>
                  <a:pt x="8536612" y="4535074"/>
                </a:lnTo>
                <a:lnTo>
                  <a:pt x="0" y="4535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044010" y="293364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79171" y="1364313"/>
            <a:ext cx="11754567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驗證4：可經由作者姓名、書籍名稱、出版社名稱或關鍵字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46318" y="549057"/>
            <a:ext cx="235926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查找書籍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95895" y="3080871"/>
            <a:ext cx="4198194" cy="432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 dirty="0" err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搜尋出版社「三日月書版</a:t>
            </a:r>
            <a:r>
              <a:rPr lang="en-US" sz="2742" b="1" dirty="0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9908" y="3076323"/>
            <a:ext cx="3568691" cy="432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 dirty="0" err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搜尋關鍵字「非人類</a:t>
            </a:r>
            <a:r>
              <a:rPr lang="en-US" sz="2742" b="1" dirty="0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23213" y="3259770"/>
            <a:ext cx="7187299" cy="2116112"/>
            <a:chOff x="0" y="0"/>
            <a:chExt cx="1892951" cy="5573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92951" cy="557330"/>
            </a:xfrm>
            <a:custGeom>
              <a:avLst/>
              <a:gdLst/>
              <a:ahLst/>
              <a:cxnLst/>
              <a:rect l="l" t="t" r="r" b="b"/>
              <a:pathLst>
                <a:path w="1892951" h="557330">
                  <a:moveTo>
                    <a:pt x="54936" y="0"/>
                  </a:moveTo>
                  <a:lnTo>
                    <a:pt x="1838016" y="0"/>
                  </a:lnTo>
                  <a:cubicBezTo>
                    <a:pt x="1868356" y="0"/>
                    <a:pt x="1892951" y="24595"/>
                    <a:pt x="1892951" y="54936"/>
                  </a:cubicBezTo>
                  <a:lnTo>
                    <a:pt x="1892951" y="502394"/>
                  </a:lnTo>
                  <a:cubicBezTo>
                    <a:pt x="1892951" y="516964"/>
                    <a:pt x="1887163" y="530937"/>
                    <a:pt x="1876861" y="541240"/>
                  </a:cubicBezTo>
                  <a:cubicBezTo>
                    <a:pt x="1866559" y="551542"/>
                    <a:pt x="1852586" y="557330"/>
                    <a:pt x="1838016" y="557330"/>
                  </a:cubicBezTo>
                  <a:lnTo>
                    <a:pt x="54936" y="557330"/>
                  </a:lnTo>
                  <a:cubicBezTo>
                    <a:pt x="24595" y="557330"/>
                    <a:pt x="0" y="532734"/>
                    <a:pt x="0" y="502394"/>
                  </a:cubicBezTo>
                  <a:lnTo>
                    <a:pt x="0" y="54936"/>
                  </a:lnTo>
                  <a:cubicBezTo>
                    <a:pt x="0" y="24595"/>
                    <a:pt x="24595" y="0"/>
                    <a:pt x="54936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892951" cy="6049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5801" y="6115942"/>
            <a:ext cx="9902122" cy="2277488"/>
          </a:xfrm>
          <a:custGeom>
            <a:avLst/>
            <a:gdLst/>
            <a:ahLst/>
            <a:cxnLst/>
            <a:rect l="l" t="t" r="r" b="b"/>
            <a:pathLst>
              <a:path w="9902122" h="2277488">
                <a:moveTo>
                  <a:pt x="0" y="0"/>
                </a:moveTo>
                <a:lnTo>
                  <a:pt x="9902122" y="0"/>
                </a:lnTo>
                <a:lnTo>
                  <a:pt x="9902122" y="2277488"/>
                </a:lnTo>
                <a:lnTo>
                  <a:pt x="0" y="2277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10312623" y="3259770"/>
            <a:ext cx="6944815" cy="2578263"/>
          </a:xfrm>
          <a:custGeom>
            <a:avLst/>
            <a:gdLst/>
            <a:ahLst/>
            <a:cxnLst/>
            <a:rect l="l" t="t" r="r" b="b"/>
            <a:pathLst>
              <a:path w="6944815" h="2578263">
                <a:moveTo>
                  <a:pt x="0" y="0"/>
                </a:moveTo>
                <a:lnTo>
                  <a:pt x="6944815" y="0"/>
                </a:lnTo>
                <a:lnTo>
                  <a:pt x="6944815" y="2578263"/>
                </a:lnTo>
                <a:lnTo>
                  <a:pt x="0" y="25782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1194846" y="2432789"/>
            <a:ext cx="5184092" cy="683368"/>
            <a:chOff x="0" y="0"/>
            <a:chExt cx="1365357" cy="1799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5357" cy="179982"/>
            </a:xfrm>
            <a:custGeom>
              <a:avLst/>
              <a:gdLst/>
              <a:ahLst/>
              <a:cxnLst/>
              <a:rect l="l" t="t" r="r" b="b"/>
              <a:pathLst>
                <a:path w="1365357" h="179982">
                  <a:moveTo>
                    <a:pt x="76163" y="0"/>
                  </a:moveTo>
                  <a:lnTo>
                    <a:pt x="1289194" y="0"/>
                  </a:lnTo>
                  <a:cubicBezTo>
                    <a:pt x="1331258" y="0"/>
                    <a:pt x="1365357" y="34100"/>
                    <a:pt x="1365357" y="76163"/>
                  </a:cubicBezTo>
                  <a:lnTo>
                    <a:pt x="1365357" y="103818"/>
                  </a:lnTo>
                  <a:cubicBezTo>
                    <a:pt x="1365357" y="145882"/>
                    <a:pt x="1331258" y="179982"/>
                    <a:pt x="1289194" y="179982"/>
                  </a:cubicBezTo>
                  <a:lnTo>
                    <a:pt x="76163" y="179982"/>
                  </a:lnTo>
                  <a:cubicBezTo>
                    <a:pt x="34100" y="179982"/>
                    <a:pt x="0" y="145882"/>
                    <a:pt x="0" y="103818"/>
                  </a:cubicBezTo>
                  <a:lnTo>
                    <a:pt x="0" y="76163"/>
                  </a:lnTo>
                  <a:cubicBezTo>
                    <a:pt x="0" y="34100"/>
                    <a:pt x="34100" y="0"/>
                    <a:pt x="76163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365357" cy="227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388823" y="7026226"/>
            <a:ext cx="6946677" cy="2596321"/>
          </a:xfrm>
          <a:custGeom>
            <a:avLst/>
            <a:gdLst/>
            <a:ahLst/>
            <a:cxnLst/>
            <a:rect l="l" t="t" r="r" b="b"/>
            <a:pathLst>
              <a:path w="6946677" h="2596321">
                <a:moveTo>
                  <a:pt x="0" y="0"/>
                </a:moveTo>
                <a:lnTo>
                  <a:pt x="6946677" y="0"/>
                </a:lnTo>
                <a:lnTo>
                  <a:pt x="6946677" y="2596321"/>
                </a:lnTo>
                <a:lnTo>
                  <a:pt x="0" y="2596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320077" y="31066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2796" y="1364313"/>
            <a:ext cx="760240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驗證5：管理者可任意增加或刪除書籍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9911" y="3447899"/>
            <a:ext cx="6596334" cy="214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以增加小說「無瞳之眼03」為例，因為該小說的作者、出版社與Tag已在author、publish和tag資料表中，故只需在novel和noveltag資料表中新增小說相關資訊。</a:t>
            </a:r>
          </a:p>
          <a:p>
            <a:pPr algn="l">
              <a:lnSpc>
                <a:spcPts val="3411"/>
              </a:lnSpc>
            </a:pPr>
            <a:endParaRPr lang="en-US" sz="2742" b="1">
              <a:solidFill>
                <a:srgbClr val="354D3A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455701" y="2548773"/>
            <a:ext cx="4658660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未增加小說「無瞳之眼03」前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192054" y="5980908"/>
            <a:ext cx="5184092" cy="683368"/>
            <a:chOff x="0" y="0"/>
            <a:chExt cx="1365357" cy="1799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65357" cy="179982"/>
            </a:xfrm>
            <a:custGeom>
              <a:avLst/>
              <a:gdLst/>
              <a:ahLst/>
              <a:cxnLst/>
              <a:rect l="l" t="t" r="r" b="b"/>
              <a:pathLst>
                <a:path w="1365357" h="179982">
                  <a:moveTo>
                    <a:pt x="76163" y="0"/>
                  </a:moveTo>
                  <a:lnTo>
                    <a:pt x="1289194" y="0"/>
                  </a:lnTo>
                  <a:cubicBezTo>
                    <a:pt x="1331258" y="0"/>
                    <a:pt x="1365357" y="34100"/>
                    <a:pt x="1365357" y="76163"/>
                  </a:cubicBezTo>
                  <a:lnTo>
                    <a:pt x="1365357" y="103818"/>
                  </a:lnTo>
                  <a:cubicBezTo>
                    <a:pt x="1365357" y="145882"/>
                    <a:pt x="1331258" y="179982"/>
                    <a:pt x="1289194" y="179982"/>
                  </a:cubicBezTo>
                  <a:lnTo>
                    <a:pt x="76163" y="179982"/>
                  </a:lnTo>
                  <a:cubicBezTo>
                    <a:pt x="34100" y="179982"/>
                    <a:pt x="0" y="145882"/>
                    <a:pt x="0" y="103818"/>
                  </a:cubicBezTo>
                  <a:lnTo>
                    <a:pt x="0" y="76163"/>
                  </a:lnTo>
                  <a:cubicBezTo>
                    <a:pt x="0" y="34100"/>
                    <a:pt x="34100" y="0"/>
                    <a:pt x="76163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365357" cy="227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08068" y="6096892"/>
            <a:ext cx="4557648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增加後在資料庫可搜索到小說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74205" y="2432789"/>
            <a:ext cx="5739590" cy="683368"/>
            <a:chOff x="0" y="0"/>
            <a:chExt cx="1511661" cy="1799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1661" cy="179982"/>
            </a:xfrm>
            <a:custGeom>
              <a:avLst/>
              <a:gdLst/>
              <a:ahLst/>
              <a:cxnLst/>
              <a:rect l="l" t="t" r="r" b="b"/>
              <a:pathLst>
                <a:path w="1511661" h="179982">
                  <a:moveTo>
                    <a:pt x="68792" y="0"/>
                  </a:moveTo>
                  <a:lnTo>
                    <a:pt x="1442869" y="0"/>
                  </a:lnTo>
                  <a:cubicBezTo>
                    <a:pt x="1480862" y="0"/>
                    <a:pt x="1511661" y="30799"/>
                    <a:pt x="1511661" y="68792"/>
                  </a:cubicBezTo>
                  <a:lnTo>
                    <a:pt x="1511661" y="111190"/>
                  </a:lnTo>
                  <a:cubicBezTo>
                    <a:pt x="1511661" y="149183"/>
                    <a:pt x="1480862" y="179982"/>
                    <a:pt x="1442869" y="179982"/>
                  </a:cubicBezTo>
                  <a:lnTo>
                    <a:pt x="68792" y="179982"/>
                  </a:lnTo>
                  <a:cubicBezTo>
                    <a:pt x="30799" y="179982"/>
                    <a:pt x="0" y="149183"/>
                    <a:pt x="0" y="111190"/>
                  </a:cubicBezTo>
                  <a:lnTo>
                    <a:pt x="0" y="68792"/>
                  </a:lnTo>
                  <a:cubicBezTo>
                    <a:pt x="0" y="30799"/>
                    <a:pt x="30799" y="0"/>
                    <a:pt x="68792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11661" cy="227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48537" y="3754332"/>
            <a:ext cx="8536611" cy="5036601"/>
          </a:xfrm>
          <a:custGeom>
            <a:avLst/>
            <a:gdLst/>
            <a:ahLst/>
            <a:cxnLst/>
            <a:rect l="l" t="t" r="r" b="b"/>
            <a:pathLst>
              <a:path w="8536611" h="5036601">
                <a:moveTo>
                  <a:pt x="0" y="0"/>
                </a:moveTo>
                <a:lnTo>
                  <a:pt x="8536611" y="0"/>
                </a:lnTo>
                <a:lnTo>
                  <a:pt x="8536611" y="5036601"/>
                </a:lnTo>
                <a:lnTo>
                  <a:pt x="0" y="5036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9185148" y="3754332"/>
            <a:ext cx="8536611" cy="5089954"/>
          </a:xfrm>
          <a:custGeom>
            <a:avLst/>
            <a:gdLst/>
            <a:ahLst/>
            <a:cxnLst/>
            <a:rect l="l" t="t" r="r" b="b"/>
            <a:pathLst>
              <a:path w="8536611" h="5089954">
                <a:moveTo>
                  <a:pt x="0" y="0"/>
                </a:moveTo>
                <a:lnTo>
                  <a:pt x="8536611" y="0"/>
                </a:lnTo>
                <a:lnTo>
                  <a:pt x="8536611" y="5089955"/>
                </a:lnTo>
                <a:lnTo>
                  <a:pt x="0" y="50899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8320077" y="31066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2796" y="1364313"/>
            <a:ext cx="760240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驗證5：管理者可任意增加或刪除書籍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6921" y="2548773"/>
            <a:ext cx="5296454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網頁上亦可看到該小說的相關資訊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40855" y="4108549"/>
            <a:ext cx="9003145" cy="3668782"/>
          </a:xfrm>
          <a:custGeom>
            <a:avLst/>
            <a:gdLst/>
            <a:ahLst/>
            <a:cxnLst/>
            <a:rect l="l" t="t" r="r" b="b"/>
            <a:pathLst>
              <a:path w="9003145" h="3668782">
                <a:moveTo>
                  <a:pt x="0" y="0"/>
                </a:moveTo>
                <a:lnTo>
                  <a:pt x="9003145" y="0"/>
                </a:lnTo>
                <a:lnTo>
                  <a:pt x="9003145" y="3668782"/>
                </a:lnTo>
                <a:lnTo>
                  <a:pt x="0" y="3668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9185148" y="3754332"/>
            <a:ext cx="9003145" cy="4771667"/>
          </a:xfrm>
          <a:custGeom>
            <a:avLst/>
            <a:gdLst/>
            <a:ahLst/>
            <a:cxnLst/>
            <a:rect l="l" t="t" r="r" b="b"/>
            <a:pathLst>
              <a:path w="9003145" h="4771667">
                <a:moveTo>
                  <a:pt x="0" y="0"/>
                </a:moveTo>
                <a:lnTo>
                  <a:pt x="9003145" y="0"/>
                </a:lnTo>
                <a:lnTo>
                  <a:pt x="9003145" y="4771667"/>
                </a:lnTo>
                <a:lnTo>
                  <a:pt x="0" y="47716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537301" y="29748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3190" y="1364313"/>
            <a:ext cx="10441621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驗證6：使用者須登入方可使用平台之推薦書籍功能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658" y="507909"/>
            <a:ext cx="122769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登入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45989" y="2432789"/>
            <a:ext cx="9196021" cy="1238866"/>
            <a:chOff x="0" y="0"/>
            <a:chExt cx="2421997" cy="3262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21998" cy="326286"/>
            </a:xfrm>
            <a:custGeom>
              <a:avLst/>
              <a:gdLst/>
              <a:ahLst/>
              <a:cxnLst/>
              <a:rect l="l" t="t" r="r" b="b"/>
              <a:pathLst>
                <a:path w="2421998" h="326286">
                  <a:moveTo>
                    <a:pt x="42936" y="0"/>
                  </a:moveTo>
                  <a:lnTo>
                    <a:pt x="2379062" y="0"/>
                  </a:lnTo>
                  <a:cubicBezTo>
                    <a:pt x="2390449" y="0"/>
                    <a:pt x="2401370" y="4524"/>
                    <a:pt x="2409422" y="12576"/>
                  </a:cubicBezTo>
                  <a:cubicBezTo>
                    <a:pt x="2417474" y="20628"/>
                    <a:pt x="2421998" y="31548"/>
                    <a:pt x="2421998" y="42936"/>
                  </a:cubicBezTo>
                  <a:lnTo>
                    <a:pt x="2421998" y="283350"/>
                  </a:lnTo>
                  <a:cubicBezTo>
                    <a:pt x="2421998" y="294737"/>
                    <a:pt x="2417474" y="305658"/>
                    <a:pt x="2409422" y="313710"/>
                  </a:cubicBezTo>
                  <a:cubicBezTo>
                    <a:pt x="2401370" y="321762"/>
                    <a:pt x="2390449" y="326286"/>
                    <a:pt x="2379062" y="326286"/>
                  </a:cubicBezTo>
                  <a:lnTo>
                    <a:pt x="42936" y="326286"/>
                  </a:lnTo>
                  <a:cubicBezTo>
                    <a:pt x="31548" y="326286"/>
                    <a:pt x="20628" y="321762"/>
                    <a:pt x="12576" y="313710"/>
                  </a:cubicBezTo>
                  <a:cubicBezTo>
                    <a:pt x="4524" y="305658"/>
                    <a:pt x="0" y="294737"/>
                    <a:pt x="0" y="283350"/>
                  </a:cubicBezTo>
                  <a:lnTo>
                    <a:pt x="0" y="42936"/>
                  </a:lnTo>
                  <a:cubicBezTo>
                    <a:pt x="0" y="31548"/>
                    <a:pt x="4524" y="20628"/>
                    <a:pt x="12576" y="12576"/>
                  </a:cubicBezTo>
                  <a:cubicBezTo>
                    <a:pt x="20628" y="4524"/>
                    <a:pt x="31548" y="0"/>
                    <a:pt x="42936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21997" cy="373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30650" y="4007538"/>
            <a:ext cx="8430679" cy="5415195"/>
          </a:xfrm>
          <a:custGeom>
            <a:avLst/>
            <a:gdLst/>
            <a:ahLst/>
            <a:cxnLst/>
            <a:rect l="l" t="t" r="r" b="b"/>
            <a:pathLst>
              <a:path w="8430679" h="5415195">
                <a:moveTo>
                  <a:pt x="0" y="0"/>
                </a:moveTo>
                <a:lnTo>
                  <a:pt x="8430679" y="0"/>
                </a:lnTo>
                <a:lnTo>
                  <a:pt x="8430679" y="5415194"/>
                </a:lnTo>
                <a:lnTo>
                  <a:pt x="0" y="5415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9207545" y="4007538"/>
            <a:ext cx="8696186" cy="4608979"/>
          </a:xfrm>
          <a:custGeom>
            <a:avLst/>
            <a:gdLst/>
            <a:ahLst/>
            <a:cxnLst/>
            <a:rect l="l" t="t" r="r" b="b"/>
            <a:pathLst>
              <a:path w="8696186" h="4608979">
                <a:moveTo>
                  <a:pt x="0" y="0"/>
                </a:moveTo>
                <a:lnTo>
                  <a:pt x="8696187" y="0"/>
                </a:lnTo>
                <a:lnTo>
                  <a:pt x="8696187" y="4608978"/>
                </a:lnTo>
                <a:lnTo>
                  <a:pt x="0" y="4608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537301" y="29748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3190" y="1364313"/>
            <a:ext cx="10441621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驗證6：使用者須登入方可使用平台之推薦書籍功能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85049" y="2603637"/>
            <a:ext cx="8670589" cy="128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因為帳號(Account)為主鍵，必須具有唯一性，因此在INSERT到user之前須先判斷有沒有與其重複之帳號名稱</a:t>
            </a:r>
          </a:p>
          <a:p>
            <a:pPr algn="l">
              <a:lnSpc>
                <a:spcPts val="3411"/>
              </a:lnSpc>
            </a:pPr>
            <a:endParaRPr lang="en-US" sz="2742" b="1">
              <a:solidFill>
                <a:srgbClr val="354D3A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46658" y="507909"/>
            <a:ext cx="1227697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登入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4875" y="2528039"/>
            <a:ext cx="5883608" cy="1238866"/>
            <a:chOff x="0" y="0"/>
            <a:chExt cx="1549592" cy="3262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9592" cy="326286"/>
            </a:xfrm>
            <a:custGeom>
              <a:avLst/>
              <a:gdLst/>
              <a:ahLst/>
              <a:cxnLst/>
              <a:rect l="l" t="t" r="r" b="b"/>
              <a:pathLst>
                <a:path w="1549592" h="326286">
                  <a:moveTo>
                    <a:pt x="67108" y="0"/>
                  </a:moveTo>
                  <a:lnTo>
                    <a:pt x="1482484" y="0"/>
                  </a:lnTo>
                  <a:cubicBezTo>
                    <a:pt x="1519547" y="0"/>
                    <a:pt x="1549592" y="30045"/>
                    <a:pt x="1549592" y="67108"/>
                  </a:cubicBezTo>
                  <a:lnTo>
                    <a:pt x="1549592" y="259178"/>
                  </a:lnTo>
                  <a:cubicBezTo>
                    <a:pt x="1549592" y="296240"/>
                    <a:pt x="1519547" y="326286"/>
                    <a:pt x="1482484" y="326286"/>
                  </a:cubicBezTo>
                  <a:lnTo>
                    <a:pt x="67108" y="326286"/>
                  </a:lnTo>
                  <a:cubicBezTo>
                    <a:pt x="30045" y="326286"/>
                    <a:pt x="0" y="296240"/>
                    <a:pt x="0" y="259178"/>
                  </a:cubicBezTo>
                  <a:lnTo>
                    <a:pt x="0" y="67108"/>
                  </a:lnTo>
                  <a:cubicBezTo>
                    <a:pt x="0" y="30045"/>
                    <a:pt x="30045" y="0"/>
                    <a:pt x="67108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49592" cy="373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48978" y="4083738"/>
            <a:ext cx="8767646" cy="4229618"/>
          </a:xfrm>
          <a:custGeom>
            <a:avLst/>
            <a:gdLst/>
            <a:ahLst/>
            <a:cxnLst/>
            <a:rect l="l" t="t" r="r" b="b"/>
            <a:pathLst>
              <a:path w="8767646" h="4229618">
                <a:moveTo>
                  <a:pt x="0" y="0"/>
                </a:moveTo>
                <a:lnTo>
                  <a:pt x="8767646" y="0"/>
                </a:lnTo>
                <a:lnTo>
                  <a:pt x="8767646" y="4229618"/>
                </a:lnTo>
                <a:lnTo>
                  <a:pt x="0" y="4229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11108236" y="4083738"/>
            <a:ext cx="4449731" cy="2937725"/>
          </a:xfrm>
          <a:custGeom>
            <a:avLst/>
            <a:gdLst/>
            <a:ahLst/>
            <a:cxnLst/>
            <a:rect l="l" t="t" r="r" b="b"/>
            <a:pathLst>
              <a:path w="4449731" h="2937725">
                <a:moveTo>
                  <a:pt x="0" y="0"/>
                </a:moveTo>
                <a:lnTo>
                  <a:pt x="4449731" y="0"/>
                </a:lnTo>
                <a:lnTo>
                  <a:pt x="4449731" y="2937725"/>
                </a:lnTo>
                <a:lnTo>
                  <a:pt x="0" y="29377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311" t="-5334" b="-6303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085217" y="2861722"/>
            <a:ext cx="6495768" cy="841015"/>
            <a:chOff x="0" y="0"/>
            <a:chExt cx="1710820" cy="2215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10820" cy="221502"/>
            </a:xfrm>
            <a:custGeom>
              <a:avLst/>
              <a:gdLst/>
              <a:ahLst/>
              <a:cxnLst/>
              <a:rect l="l" t="t" r="r" b="b"/>
              <a:pathLst>
                <a:path w="1710820" h="221502">
                  <a:moveTo>
                    <a:pt x="60784" y="0"/>
                  </a:moveTo>
                  <a:lnTo>
                    <a:pt x="1650036" y="0"/>
                  </a:lnTo>
                  <a:cubicBezTo>
                    <a:pt x="1666157" y="0"/>
                    <a:pt x="1681617" y="6404"/>
                    <a:pt x="1693016" y="17803"/>
                  </a:cubicBezTo>
                  <a:cubicBezTo>
                    <a:pt x="1704416" y="29202"/>
                    <a:pt x="1710820" y="44663"/>
                    <a:pt x="1710820" y="60784"/>
                  </a:cubicBezTo>
                  <a:lnTo>
                    <a:pt x="1710820" y="160718"/>
                  </a:lnTo>
                  <a:cubicBezTo>
                    <a:pt x="1710820" y="176839"/>
                    <a:pt x="1704416" y="192300"/>
                    <a:pt x="1693016" y="203699"/>
                  </a:cubicBezTo>
                  <a:cubicBezTo>
                    <a:pt x="1681617" y="215098"/>
                    <a:pt x="1666157" y="221502"/>
                    <a:pt x="1650036" y="221502"/>
                  </a:cubicBezTo>
                  <a:lnTo>
                    <a:pt x="60784" y="221502"/>
                  </a:lnTo>
                  <a:cubicBezTo>
                    <a:pt x="27214" y="221502"/>
                    <a:pt x="0" y="194288"/>
                    <a:pt x="0" y="160718"/>
                  </a:cubicBezTo>
                  <a:lnTo>
                    <a:pt x="0" y="60784"/>
                  </a:lnTo>
                  <a:cubicBezTo>
                    <a:pt x="0" y="44663"/>
                    <a:pt x="6404" y="29202"/>
                    <a:pt x="17803" y="17803"/>
                  </a:cubicBezTo>
                  <a:cubicBezTo>
                    <a:pt x="29202" y="6404"/>
                    <a:pt x="44663" y="0"/>
                    <a:pt x="60784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710820" cy="269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98538" y="7192913"/>
            <a:ext cx="1568144" cy="841015"/>
            <a:chOff x="0" y="0"/>
            <a:chExt cx="413009" cy="2215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3009" cy="221502"/>
            </a:xfrm>
            <a:custGeom>
              <a:avLst/>
              <a:gdLst/>
              <a:ahLst/>
              <a:cxnLst/>
              <a:rect l="l" t="t" r="r" b="b"/>
              <a:pathLst>
                <a:path w="413009" h="221502">
                  <a:moveTo>
                    <a:pt x="110751" y="0"/>
                  </a:moveTo>
                  <a:lnTo>
                    <a:pt x="302258" y="0"/>
                  </a:lnTo>
                  <a:cubicBezTo>
                    <a:pt x="331631" y="0"/>
                    <a:pt x="359801" y="11668"/>
                    <a:pt x="380571" y="32438"/>
                  </a:cubicBezTo>
                  <a:cubicBezTo>
                    <a:pt x="401341" y="53208"/>
                    <a:pt x="413009" y="81378"/>
                    <a:pt x="413009" y="110751"/>
                  </a:cubicBezTo>
                  <a:lnTo>
                    <a:pt x="413009" y="110751"/>
                  </a:lnTo>
                  <a:cubicBezTo>
                    <a:pt x="413009" y="140124"/>
                    <a:pt x="401341" y="168294"/>
                    <a:pt x="380571" y="189064"/>
                  </a:cubicBezTo>
                  <a:cubicBezTo>
                    <a:pt x="359801" y="209834"/>
                    <a:pt x="331631" y="221502"/>
                    <a:pt x="302258" y="221502"/>
                  </a:cubicBezTo>
                  <a:lnTo>
                    <a:pt x="110751" y="221502"/>
                  </a:lnTo>
                  <a:cubicBezTo>
                    <a:pt x="81378" y="221502"/>
                    <a:pt x="53208" y="209834"/>
                    <a:pt x="32438" y="189064"/>
                  </a:cubicBezTo>
                  <a:cubicBezTo>
                    <a:pt x="11668" y="168294"/>
                    <a:pt x="0" y="140124"/>
                    <a:pt x="0" y="110751"/>
                  </a:cubicBezTo>
                  <a:lnTo>
                    <a:pt x="0" y="110751"/>
                  </a:lnTo>
                  <a:cubicBezTo>
                    <a:pt x="0" y="81378"/>
                    <a:pt x="11668" y="53208"/>
                    <a:pt x="32438" y="32438"/>
                  </a:cubicBezTo>
                  <a:cubicBezTo>
                    <a:pt x="53208" y="11668"/>
                    <a:pt x="81378" y="0"/>
                    <a:pt x="110751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13009" cy="269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02098" y="7192913"/>
            <a:ext cx="1568144" cy="841015"/>
            <a:chOff x="0" y="0"/>
            <a:chExt cx="413009" cy="2215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3009" cy="221502"/>
            </a:xfrm>
            <a:custGeom>
              <a:avLst/>
              <a:gdLst/>
              <a:ahLst/>
              <a:cxnLst/>
              <a:rect l="l" t="t" r="r" b="b"/>
              <a:pathLst>
                <a:path w="413009" h="221502">
                  <a:moveTo>
                    <a:pt x="110751" y="0"/>
                  </a:moveTo>
                  <a:lnTo>
                    <a:pt x="302258" y="0"/>
                  </a:lnTo>
                  <a:cubicBezTo>
                    <a:pt x="331631" y="0"/>
                    <a:pt x="359801" y="11668"/>
                    <a:pt x="380571" y="32438"/>
                  </a:cubicBezTo>
                  <a:cubicBezTo>
                    <a:pt x="401341" y="53208"/>
                    <a:pt x="413009" y="81378"/>
                    <a:pt x="413009" y="110751"/>
                  </a:cubicBezTo>
                  <a:lnTo>
                    <a:pt x="413009" y="110751"/>
                  </a:lnTo>
                  <a:cubicBezTo>
                    <a:pt x="413009" y="140124"/>
                    <a:pt x="401341" y="168294"/>
                    <a:pt x="380571" y="189064"/>
                  </a:cubicBezTo>
                  <a:cubicBezTo>
                    <a:pt x="359801" y="209834"/>
                    <a:pt x="331631" y="221502"/>
                    <a:pt x="302258" y="221502"/>
                  </a:cubicBezTo>
                  <a:lnTo>
                    <a:pt x="110751" y="221502"/>
                  </a:lnTo>
                  <a:cubicBezTo>
                    <a:pt x="81378" y="221502"/>
                    <a:pt x="53208" y="209834"/>
                    <a:pt x="32438" y="189064"/>
                  </a:cubicBezTo>
                  <a:cubicBezTo>
                    <a:pt x="11668" y="168294"/>
                    <a:pt x="0" y="140124"/>
                    <a:pt x="0" y="110751"/>
                  </a:cubicBezTo>
                  <a:lnTo>
                    <a:pt x="0" y="110751"/>
                  </a:lnTo>
                  <a:cubicBezTo>
                    <a:pt x="0" y="81378"/>
                    <a:pt x="11668" y="53208"/>
                    <a:pt x="32438" y="32438"/>
                  </a:cubicBezTo>
                  <a:cubicBezTo>
                    <a:pt x="53208" y="11668"/>
                    <a:pt x="81378" y="0"/>
                    <a:pt x="110751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413009" cy="269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9367435" y="8280900"/>
            <a:ext cx="3798494" cy="762980"/>
          </a:xfrm>
          <a:custGeom>
            <a:avLst/>
            <a:gdLst/>
            <a:ahLst/>
            <a:cxnLst/>
            <a:rect l="l" t="t" r="r" b="b"/>
            <a:pathLst>
              <a:path w="3798494" h="762980">
                <a:moveTo>
                  <a:pt x="0" y="0"/>
                </a:moveTo>
                <a:lnTo>
                  <a:pt x="3798494" y="0"/>
                </a:lnTo>
                <a:lnTo>
                  <a:pt x="3798494" y="762981"/>
                </a:lnTo>
                <a:lnTo>
                  <a:pt x="0" y="762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Freeform 25"/>
          <p:cNvSpPr/>
          <p:nvPr/>
        </p:nvSpPr>
        <p:spPr>
          <a:xfrm>
            <a:off x="13658720" y="8253003"/>
            <a:ext cx="3798494" cy="832208"/>
          </a:xfrm>
          <a:custGeom>
            <a:avLst/>
            <a:gdLst/>
            <a:ahLst/>
            <a:cxnLst/>
            <a:rect l="l" t="t" r="r" b="b"/>
            <a:pathLst>
              <a:path w="3798494" h="832208">
                <a:moveTo>
                  <a:pt x="0" y="0"/>
                </a:moveTo>
                <a:lnTo>
                  <a:pt x="3798494" y="0"/>
                </a:lnTo>
                <a:lnTo>
                  <a:pt x="3798494" y="832208"/>
                </a:lnTo>
                <a:lnTo>
                  <a:pt x="0" y="8322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7537301" y="29748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06679" y="1364313"/>
            <a:ext cx="94746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驗證7：系統可記錄使用者閱讀紀錄、收藏紀錄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03935" y="2698887"/>
            <a:ext cx="5419898" cy="128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點擊閱讀按鍵後，History會加一，記錄使用者閱讀過一次那本書</a:t>
            </a:r>
          </a:p>
          <a:p>
            <a:pPr algn="l">
              <a:lnSpc>
                <a:spcPts val="3411"/>
              </a:lnSpc>
            </a:pPr>
            <a:endParaRPr lang="en-US" sz="2742" b="1">
              <a:solidFill>
                <a:srgbClr val="31508E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446658" y="507909"/>
            <a:ext cx="2379841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閱讀紀錄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24277" y="3032570"/>
            <a:ext cx="5954822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點擊小說「地球之眼」(nIndex: 30)前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69011" y="7387720"/>
            <a:ext cx="1112505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第一次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72572" y="7387720"/>
            <a:ext cx="1112505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第二次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59285" y="2249065"/>
            <a:ext cx="9769430" cy="1437978"/>
            <a:chOff x="0" y="0"/>
            <a:chExt cx="2573018" cy="3787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73019" cy="378727"/>
            </a:xfrm>
            <a:custGeom>
              <a:avLst/>
              <a:gdLst/>
              <a:ahLst/>
              <a:cxnLst/>
              <a:rect l="l" t="t" r="r" b="b"/>
              <a:pathLst>
                <a:path w="2573019" h="378727">
                  <a:moveTo>
                    <a:pt x="40416" y="0"/>
                  </a:moveTo>
                  <a:lnTo>
                    <a:pt x="2532603" y="0"/>
                  </a:lnTo>
                  <a:cubicBezTo>
                    <a:pt x="2554924" y="0"/>
                    <a:pt x="2573019" y="18095"/>
                    <a:pt x="2573019" y="40416"/>
                  </a:cubicBezTo>
                  <a:lnTo>
                    <a:pt x="2573019" y="338311"/>
                  </a:lnTo>
                  <a:cubicBezTo>
                    <a:pt x="2573019" y="349030"/>
                    <a:pt x="2568760" y="359310"/>
                    <a:pt x="2561181" y="366889"/>
                  </a:cubicBezTo>
                  <a:cubicBezTo>
                    <a:pt x="2553602" y="374469"/>
                    <a:pt x="2543322" y="378727"/>
                    <a:pt x="2532603" y="378727"/>
                  </a:cubicBezTo>
                  <a:lnTo>
                    <a:pt x="40416" y="378727"/>
                  </a:lnTo>
                  <a:cubicBezTo>
                    <a:pt x="18095" y="378727"/>
                    <a:pt x="0" y="360632"/>
                    <a:pt x="0" y="338311"/>
                  </a:cubicBezTo>
                  <a:lnTo>
                    <a:pt x="0" y="40416"/>
                  </a:lnTo>
                  <a:cubicBezTo>
                    <a:pt x="0" y="18095"/>
                    <a:pt x="18095" y="0"/>
                    <a:pt x="40416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573018" cy="426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589902" y="3868018"/>
            <a:ext cx="11301259" cy="2867694"/>
          </a:xfrm>
          <a:custGeom>
            <a:avLst/>
            <a:gdLst/>
            <a:ahLst/>
            <a:cxnLst/>
            <a:rect l="l" t="t" r="r" b="b"/>
            <a:pathLst>
              <a:path w="11301259" h="2867694">
                <a:moveTo>
                  <a:pt x="0" y="0"/>
                </a:moveTo>
                <a:lnTo>
                  <a:pt x="11301259" y="0"/>
                </a:lnTo>
                <a:lnTo>
                  <a:pt x="11301259" y="2867695"/>
                </a:lnTo>
                <a:lnTo>
                  <a:pt x="0" y="28676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11329223" y="7530013"/>
            <a:ext cx="2877312" cy="2579916"/>
          </a:xfrm>
          <a:custGeom>
            <a:avLst/>
            <a:gdLst/>
            <a:ahLst/>
            <a:cxnLst/>
            <a:rect l="l" t="t" r="r" b="b"/>
            <a:pathLst>
              <a:path w="2877312" h="2579916">
                <a:moveTo>
                  <a:pt x="0" y="0"/>
                </a:moveTo>
                <a:lnTo>
                  <a:pt x="2877312" y="0"/>
                </a:lnTo>
                <a:lnTo>
                  <a:pt x="2877312" y="2579916"/>
                </a:lnTo>
                <a:lnTo>
                  <a:pt x="0" y="25799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537301" y="29748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06679" y="1364313"/>
            <a:ext cx="94746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驗證7：系統可記錄使用者閱讀紀錄、收藏紀錄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81604" y="2372530"/>
            <a:ext cx="9293632" cy="128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當使用者點下收藏鍵時，首先要先用SELECT判斷該書目前是否處於收藏的狀態。如果已被收藏，則用DELETE取消收藏，若尚未收藏，則用INSERT加入收藏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46658" y="507909"/>
            <a:ext cx="2379841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收藏紀錄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60985" y="6911925"/>
            <a:ext cx="6424171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收藏小說「指數化愛情」(nIndex: 585)前</a:t>
            </a:r>
          </a:p>
        </p:txBody>
      </p:sp>
      <p:sp>
        <p:nvSpPr>
          <p:cNvPr id="20" name="Freeform 20"/>
          <p:cNvSpPr/>
          <p:nvPr/>
        </p:nvSpPr>
        <p:spPr>
          <a:xfrm>
            <a:off x="4325216" y="7485098"/>
            <a:ext cx="2695708" cy="2688796"/>
          </a:xfrm>
          <a:custGeom>
            <a:avLst/>
            <a:gdLst/>
            <a:ahLst/>
            <a:cxnLst/>
            <a:rect l="l" t="t" r="r" b="b"/>
            <a:pathLst>
              <a:path w="2695708" h="2688796">
                <a:moveTo>
                  <a:pt x="0" y="0"/>
                </a:moveTo>
                <a:lnTo>
                  <a:pt x="2695708" y="0"/>
                </a:lnTo>
                <a:lnTo>
                  <a:pt x="2695708" y="2688796"/>
                </a:lnTo>
                <a:lnTo>
                  <a:pt x="0" y="2688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9555793" y="6926213"/>
            <a:ext cx="6424171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收藏小說「指數化愛情」(nIndex: 585)後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58011" y="2269067"/>
            <a:ext cx="6377293" cy="841332"/>
            <a:chOff x="0" y="0"/>
            <a:chExt cx="1679616" cy="2215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79616" cy="221586"/>
            </a:xfrm>
            <a:custGeom>
              <a:avLst/>
              <a:gdLst/>
              <a:ahLst/>
              <a:cxnLst/>
              <a:rect l="l" t="t" r="r" b="b"/>
              <a:pathLst>
                <a:path w="1679616" h="221586">
                  <a:moveTo>
                    <a:pt x="61913" y="0"/>
                  </a:moveTo>
                  <a:lnTo>
                    <a:pt x="1617703" y="0"/>
                  </a:lnTo>
                  <a:cubicBezTo>
                    <a:pt x="1651897" y="0"/>
                    <a:pt x="1679616" y="27719"/>
                    <a:pt x="1679616" y="61913"/>
                  </a:cubicBezTo>
                  <a:lnTo>
                    <a:pt x="1679616" y="159672"/>
                  </a:lnTo>
                  <a:cubicBezTo>
                    <a:pt x="1679616" y="193866"/>
                    <a:pt x="1651897" y="221586"/>
                    <a:pt x="1617703" y="221586"/>
                  </a:cubicBezTo>
                  <a:lnTo>
                    <a:pt x="61913" y="221586"/>
                  </a:lnTo>
                  <a:cubicBezTo>
                    <a:pt x="27719" y="221586"/>
                    <a:pt x="0" y="193866"/>
                    <a:pt x="0" y="159672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rgbClr val="B9D4A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79616" cy="269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960252" y="3453300"/>
            <a:ext cx="11151550" cy="6579414"/>
          </a:xfrm>
          <a:custGeom>
            <a:avLst/>
            <a:gdLst/>
            <a:ahLst/>
            <a:cxnLst/>
            <a:rect l="l" t="t" r="r" b="b"/>
            <a:pathLst>
              <a:path w="11151550" h="6579414">
                <a:moveTo>
                  <a:pt x="0" y="0"/>
                </a:moveTo>
                <a:lnTo>
                  <a:pt x="11151550" y="0"/>
                </a:lnTo>
                <a:lnTo>
                  <a:pt x="11151550" y="6579414"/>
                </a:lnTo>
                <a:lnTo>
                  <a:pt x="0" y="6579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7537301" y="297485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06679" y="1364313"/>
            <a:ext cx="9474643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驗證7：系統可記錄使用者閱讀紀錄、收藏紀錄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5705" y="2484036"/>
            <a:ext cx="5960644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54D3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是否收藏的結果也會同步顯示在網頁上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46658" y="507909"/>
            <a:ext cx="2379841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收藏紀錄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0158" y="2432789"/>
            <a:ext cx="7625867" cy="7566212"/>
          </a:xfrm>
          <a:custGeom>
            <a:avLst/>
            <a:gdLst/>
            <a:ahLst/>
            <a:cxnLst/>
            <a:rect l="l" t="t" r="r" b="b"/>
            <a:pathLst>
              <a:path w="7625867" h="7566212">
                <a:moveTo>
                  <a:pt x="0" y="0"/>
                </a:moveTo>
                <a:lnTo>
                  <a:pt x="7625867" y="0"/>
                </a:lnTo>
                <a:lnTo>
                  <a:pt x="7625867" y="7566213"/>
                </a:lnTo>
                <a:lnTo>
                  <a:pt x="0" y="75662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9751975" y="2432789"/>
            <a:ext cx="7625867" cy="757729"/>
          </a:xfrm>
          <a:custGeom>
            <a:avLst/>
            <a:gdLst/>
            <a:ahLst/>
            <a:cxnLst/>
            <a:rect l="l" t="t" r="r" b="b"/>
            <a:pathLst>
              <a:path w="7625867" h="757729">
                <a:moveTo>
                  <a:pt x="0" y="0"/>
                </a:moveTo>
                <a:lnTo>
                  <a:pt x="7625867" y="0"/>
                </a:lnTo>
                <a:lnTo>
                  <a:pt x="7625867" y="757730"/>
                </a:lnTo>
                <a:lnTo>
                  <a:pt x="0" y="757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>
            <a:off x="9751975" y="3349451"/>
            <a:ext cx="7625867" cy="6699031"/>
          </a:xfrm>
          <a:custGeom>
            <a:avLst/>
            <a:gdLst/>
            <a:ahLst/>
            <a:cxnLst/>
            <a:rect l="l" t="t" r="r" b="b"/>
            <a:pathLst>
              <a:path w="7625867" h="6699031">
                <a:moveTo>
                  <a:pt x="0" y="0"/>
                </a:moveTo>
                <a:lnTo>
                  <a:pt x="7625867" y="0"/>
                </a:lnTo>
                <a:lnTo>
                  <a:pt x="7625867" y="6699031"/>
                </a:lnTo>
                <a:lnTo>
                  <a:pt x="0" y="66990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8320077" y="414469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6562" y="1364313"/>
            <a:ext cx="11778930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驗證8：系統可依據使用者的喜好推薦其可能感興趣之書籍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511" y="2990965"/>
            <a:ext cx="7928590" cy="841332"/>
            <a:chOff x="0" y="0"/>
            <a:chExt cx="2088188" cy="2215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8188" cy="221586"/>
            </a:xfrm>
            <a:custGeom>
              <a:avLst/>
              <a:gdLst/>
              <a:ahLst/>
              <a:cxnLst/>
              <a:rect l="l" t="t" r="r" b="b"/>
              <a:pathLst>
                <a:path w="2088188" h="221586">
                  <a:moveTo>
                    <a:pt x="49799" y="0"/>
                  </a:moveTo>
                  <a:lnTo>
                    <a:pt x="2038389" y="0"/>
                  </a:lnTo>
                  <a:cubicBezTo>
                    <a:pt x="2051596" y="0"/>
                    <a:pt x="2064263" y="5247"/>
                    <a:pt x="2073602" y="14586"/>
                  </a:cubicBezTo>
                  <a:cubicBezTo>
                    <a:pt x="2082941" y="23925"/>
                    <a:pt x="2088188" y="36592"/>
                    <a:pt x="2088188" y="49799"/>
                  </a:cubicBezTo>
                  <a:lnTo>
                    <a:pt x="2088188" y="171786"/>
                  </a:lnTo>
                  <a:cubicBezTo>
                    <a:pt x="2088188" y="199290"/>
                    <a:pt x="2065892" y="221586"/>
                    <a:pt x="2038389" y="221586"/>
                  </a:cubicBezTo>
                  <a:lnTo>
                    <a:pt x="49799" y="221586"/>
                  </a:lnTo>
                  <a:cubicBezTo>
                    <a:pt x="36592" y="221586"/>
                    <a:pt x="23925" y="216339"/>
                    <a:pt x="14586" y="207000"/>
                  </a:cubicBezTo>
                  <a:cubicBezTo>
                    <a:pt x="5247" y="197660"/>
                    <a:pt x="0" y="184994"/>
                    <a:pt x="0" y="171786"/>
                  </a:cubicBezTo>
                  <a:lnTo>
                    <a:pt x="0" y="49799"/>
                  </a:lnTo>
                  <a:cubicBezTo>
                    <a:pt x="0" y="36592"/>
                    <a:pt x="5247" y="23925"/>
                    <a:pt x="14586" y="14586"/>
                  </a:cubicBezTo>
                  <a:cubicBezTo>
                    <a:pt x="23925" y="5247"/>
                    <a:pt x="36592" y="0"/>
                    <a:pt x="49799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88188" cy="269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95428" y="2570299"/>
            <a:ext cx="2984792" cy="841332"/>
            <a:chOff x="0" y="0"/>
            <a:chExt cx="786118" cy="2215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6118" cy="221586"/>
            </a:xfrm>
            <a:custGeom>
              <a:avLst/>
              <a:gdLst/>
              <a:ahLst/>
              <a:cxnLst/>
              <a:rect l="l" t="t" r="r" b="b"/>
              <a:pathLst>
                <a:path w="786118" h="221586">
                  <a:moveTo>
                    <a:pt x="110793" y="0"/>
                  </a:moveTo>
                  <a:lnTo>
                    <a:pt x="675325" y="0"/>
                  </a:lnTo>
                  <a:cubicBezTo>
                    <a:pt x="736514" y="0"/>
                    <a:pt x="786118" y="49604"/>
                    <a:pt x="786118" y="110793"/>
                  </a:cubicBezTo>
                  <a:lnTo>
                    <a:pt x="786118" y="110793"/>
                  </a:lnTo>
                  <a:cubicBezTo>
                    <a:pt x="786118" y="171982"/>
                    <a:pt x="736514" y="221586"/>
                    <a:pt x="675325" y="221586"/>
                  </a:cubicBezTo>
                  <a:lnTo>
                    <a:pt x="110793" y="221586"/>
                  </a:lnTo>
                  <a:cubicBezTo>
                    <a:pt x="49604" y="221586"/>
                    <a:pt x="0" y="171982"/>
                    <a:pt x="0" y="110793"/>
                  </a:cubicBezTo>
                  <a:lnTo>
                    <a:pt x="0" y="110793"/>
                  </a:lnTo>
                  <a:cubicBezTo>
                    <a:pt x="0" y="49604"/>
                    <a:pt x="49604" y="0"/>
                    <a:pt x="110793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86118" cy="269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91262" y="4178862"/>
            <a:ext cx="8967087" cy="2543435"/>
          </a:xfrm>
          <a:custGeom>
            <a:avLst/>
            <a:gdLst/>
            <a:ahLst/>
            <a:cxnLst/>
            <a:rect l="l" t="t" r="r" b="b"/>
            <a:pathLst>
              <a:path w="8967087" h="2543435">
                <a:moveTo>
                  <a:pt x="0" y="0"/>
                </a:moveTo>
                <a:lnTo>
                  <a:pt x="8967087" y="0"/>
                </a:lnTo>
                <a:lnTo>
                  <a:pt x="8967087" y="2543435"/>
                </a:lnTo>
                <a:lnTo>
                  <a:pt x="0" y="2543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9536027" y="3597951"/>
            <a:ext cx="8575260" cy="5059403"/>
          </a:xfrm>
          <a:custGeom>
            <a:avLst/>
            <a:gdLst/>
            <a:ahLst/>
            <a:cxnLst/>
            <a:rect l="l" t="t" r="r" b="b"/>
            <a:pathLst>
              <a:path w="8575260" h="5059403">
                <a:moveTo>
                  <a:pt x="0" y="0"/>
                </a:moveTo>
                <a:lnTo>
                  <a:pt x="8575260" y="0"/>
                </a:lnTo>
                <a:lnTo>
                  <a:pt x="8575260" y="5059403"/>
                </a:lnTo>
                <a:lnTo>
                  <a:pt x="0" y="50594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433864" y="414469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53720" y="1381742"/>
            <a:ext cx="6964615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可依據使用者選擇之狀態篩選小說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8205" y="3205934"/>
            <a:ext cx="7372528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使用者可點選小說狀態之按鍵，篩選同狀態小說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93122" y="2785267"/>
            <a:ext cx="2486360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篩選狀態：連載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8349" y="670161"/>
            <a:ext cx="2379841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額外功能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5882" y="-2293406"/>
            <a:ext cx="6931752" cy="4726195"/>
          </a:xfrm>
          <a:custGeom>
            <a:avLst/>
            <a:gdLst/>
            <a:ahLst/>
            <a:cxnLst/>
            <a:rect l="l" t="t" r="r" b="b"/>
            <a:pathLst>
              <a:path w="6931752" h="4726195">
                <a:moveTo>
                  <a:pt x="0" y="0"/>
                </a:moveTo>
                <a:lnTo>
                  <a:pt x="6931753" y="0"/>
                </a:lnTo>
                <a:lnTo>
                  <a:pt x="6931753" y="4726195"/>
                </a:lnTo>
                <a:lnTo>
                  <a:pt x="0" y="4726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13253318" y="8730282"/>
            <a:ext cx="7001611" cy="5932274"/>
          </a:xfrm>
          <a:custGeom>
            <a:avLst/>
            <a:gdLst/>
            <a:ahLst/>
            <a:cxnLst/>
            <a:rect l="l" t="t" r="r" b="b"/>
            <a:pathLst>
              <a:path w="7001611" h="5932274">
                <a:moveTo>
                  <a:pt x="0" y="0"/>
                </a:moveTo>
                <a:lnTo>
                  <a:pt x="7001611" y="0"/>
                </a:lnTo>
                <a:lnTo>
                  <a:pt x="7001611" y="5932274"/>
                </a:lnTo>
                <a:lnTo>
                  <a:pt x="0" y="593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4891161" y="-130564"/>
            <a:ext cx="4888679" cy="3027854"/>
            <a:chOff x="0" y="0"/>
            <a:chExt cx="6518238" cy="4037138"/>
          </a:xfrm>
        </p:grpSpPr>
        <p:sp>
          <p:nvSpPr>
            <p:cNvPr id="5" name="Freeform 5"/>
            <p:cNvSpPr/>
            <p:nvPr/>
          </p:nvSpPr>
          <p:spPr>
            <a:xfrm rot="-226878" flipH="1">
              <a:off x="309958" y="4006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alphaModFix amt="2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Freeform 6"/>
            <p:cNvSpPr/>
            <p:nvPr/>
          </p:nvSpPr>
          <p:spPr>
            <a:xfrm rot="-226878" flipH="1">
              <a:off x="106758" y="197449"/>
              <a:ext cx="6101522" cy="3439040"/>
            </a:xfrm>
            <a:custGeom>
              <a:avLst/>
              <a:gdLst/>
              <a:ahLst/>
              <a:cxnLst/>
              <a:rect l="l" t="t" r="r" b="b"/>
              <a:pathLst>
                <a:path w="6101522" h="3439040">
                  <a:moveTo>
                    <a:pt x="6101522" y="0"/>
                  </a:moveTo>
                  <a:lnTo>
                    <a:pt x="0" y="0"/>
                  </a:lnTo>
                  <a:lnTo>
                    <a:pt x="0" y="3439040"/>
                  </a:lnTo>
                  <a:lnTo>
                    <a:pt x="6101522" y="3439040"/>
                  </a:lnTo>
                  <a:lnTo>
                    <a:pt x="61015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75882" y="7777331"/>
            <a:ext cx="5097816" cy="5029049"/>
            <a:chOff x="0" y="0"/>
            <a:chExt cx="6797088" cy="6705399"/>
          </a:xfrm>
        </p:grpSpPr>
        <p:sp>
          <p:nvSpPr>
            <p:cNvPr id="8" name="Freeform 8"/>
            <p:cNvSpPr/>
            <p:nvPr/>
          </p:nvSpPr>
          <p:spPr>
            <a:xfrm rot="2830696" flipH="1">
              <a:off x="1609830" y="7110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alphaModFix amt="27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9"/>
            <p:cNvSpPr/>
            <p:nvPr/>
          </p:nvSpPr>
          <p:spPr>
            <a:xfrm rot="2830696" flipH="1">
              <a:off x="1406630" y="507899"/>
              <a:ext cx="3780628" cy="5486400"/>
            </a:xfrm>
            <a:custGeom>
              <a:avLst/>
              <a:gdLst/>
              <a:ahLst/>
              <a:cxnLst/>
              <a:rect l="l" t="t" r="r" b="b"/>
              <a:pathLst>
                <a:path w="3780628" h="5486400">
                  <a:moveTo>
                    <a:pt x="3780628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3780628" y="5486400"/>
                  </a:lnTo>
                  <a:lnTo>
                    <a:pt x="378062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0511" y="2990965"/>
            <a:ext cx="7928590" cy="841332"/>
            <a:chOff x="0" y="0"/>
            <a:chExt cx="2088188" cy="2215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8188" cy="221586"/>
            </a:xfrm>
            <a:custGeom>
              <a:avLst/>
              <a:gdLst/>
              <a:ahLst/>
              <a:cxnLst/>
              <a:rect l="l" t="t" r="r" b="b"/>
              <a:pathLst>
                <a:path w="2088188" h="221586">
                  <a:moveTo>
                    <a:pt x="49799" y="0"/>
                  </a:moveTo>
                  <a:lnTo>
                    <a:pt x="2038389" y="0"/>
                  </a:lnTo>
                  <a:cubicBezTo>
                    <a:pt x="2051596" y="0"/>
                    <a:pt x="2064263" y="5247"/>
                    <a:pt x="2073602" y="14586"/>
                  </a:cubicBezTo>
                  <a:cubicBezTo>
                    <a:pt x="2082941" y="23925"/>
                    <a:pt x="2088188" y="36592"/>
                    <a:pt x="2088188" y="49799"/>
                  </a:cubicBezTo>
                  <a:lnTo>
                    <a:pt x="2088188" y="171786"/>
                  </a:lnTo>
                  <a:cubicBezTo>
                    <a:pt x="2088188" y="199290"/>
                    <a:pt x="2065892" y="221586"/>
                    <a:pt x="2038389" y="221586"/>
                  </a:cubicBezTo>
                  <a:lnTo>
                    <a:pt x="49799" y="221586"/>
                  </a:lnTo>
                  <a:cubicBezTo>
                    <a:pt x="36592" y="221586"/>
                    <a:pt x="23925" y="216339"/>
                    <a:pt x="14586" y="207000"/>
                  </a:cubicBezTo>
                  <a:cubicBezTo>
                    <a:pt x="5247" y="197660"/>
                    <a:pt x="0" y="184994"/>
                    <a:pt x="0" y="171786"/>
                  </a:cubicBezTo>
                  <a:lnTo>
                    <a:pt x="0" y="49799"/>
                  </a:lnTo>
                  <a:cubicBezTo>
                    <a:pt x="0" y="36592"/>
                    <a:pt x="5247" y="23925"/>
                    <a:pt x="14586" y="14586"/>
                  </a:cubicBezTo>
                  <a:cubicBezTo>
                    <a:pt x="23925" y="5247"/>
                    <a:pt x="36592" y="0"/>
                    <a:pt x="49799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088188" cy="269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87243" y="2590302"/>
            <a:ext cx="3272828" cy="841332"/>
            <a:chOff x="0" y="0"/>
            <a:chExt cx="861979" cy="22158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1979" cy="221586"/>
            </a:xfrm>
            <a:custGeom>
              <a:avLst/>
              <a:gdLst/>
              <a:ahLst/>
              <a:cxnLst/>
              <a:rect l="l" t="t" r="r" b="b"/>
              <a:pathLst>
                <a:path w="861979" h="221586">
                  <a:moveTo>
                    <a:pt x="110793" y="0"/>
                  </a:moveTo>
                  <a:lnTo>
                    <a:pt x="751187" y="0"/>
                  </a:lnTo>
                  <a:cubicBezTo>
                    <a:pt x="812376" y="0"/>
                    <a:pt x="861979" y="49604"/>
                    <a:pt x="861979" y="110793"/>
                  </a:cubicBezTo>
                  <a:lnTo>
                    <a:pt x="861979" y="110793"/>
                  </a:lnTo>
                  <a:cubicBezTo>
                    <a:pt x="861979" y="171982"/>
                    <a:pt x="812376" y="221586"/>
                    <a:pt x="751187" y="221586"/>
                  </a:cubicBezTo>
                  <a:lnTo>
                    <a:pt x="110793" y="221586"/>
                  </a:lnTo>
                  <a:cubicBezTo>
                    <a:pt x="49604" y="221586"/>
                    <a:pt x="0" y="171982"/>
                    <a:pt x="0" y="110793"/>
                  </a:cubicBezTo>
                  <a:lnTo>
                    <a:pt x="0" y="110793"/>
                  </a:lnTo>
                  <a:cubicBezTo>
                    <a:pt x="0" y="49604"/>
                    <a:pt x="49604" y="0"/>
                    <a:pt x="110793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61979" cy="269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85166" y="4078229"/>
            <a:ext cx="9073183" cy="3179798"/>
          </a:xfrm>
          <a:custGeom>
            <a:avLst/>
            <a:gdLst/>
            <a:ahLst/>
            <a:cxnLst/>
            <a:rect l="l" t="t" r="r" b="b"/>
            <a:pathLst>
              <a:path w="9073183" h="3179798">
                <a:moveTo>
                  <a:pt x="0" y="0"/>
                </a:moveTo>
                <a:lnTo>
                  <a:pt x="9073183" y="0"/>
                </a:lnTo>
                <a:lnTo>
                  <a:pt x="9073183" y="3179798"/>
                </a:lnTo>
                <a:lnTo>
                  <a:pt x="0" y="31797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433864" y="414469"/>
            <a:ext cx="164784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測試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94868" y="1364313"/>
            <a:ext cx="6882319" cy="5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601" b="1">
                <a:solidFill>
                  <a:srgbClr val="91919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可依據使用者選擇之Tag篩選小說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8205" y="3205934"/>
            <a:ext cx="7372528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可依據使用者點擊之Tag連結篩選同Tag之小說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84937" y="2805270"/>
            <a:ext cx="2815544" cy="43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742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選Tag：平行時空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58349" y="670161"/>
            <a:ext cx="2379841" cy="70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4629" b="1">
                <a:solidFill>
                  <a:srgbClr val="5E17E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額外功能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36027" y="3634157"/>
            <a:ext cx="8575260" cy="5091560"/>
          </a:xfrm>
          <a:custGeom>
            <a:avLst/>
            <a:gdLst/>
            <a:ahLst/>
            <a:cxnLst/>
            <a:rect l="l" t="t" r="r" b="b"/>
            <a:pathLst>
              <a:path w="8575260" h="5091560">
                <a:moveTo>
                  <a:pt x="0" y="0"/>
                </a:moveTo>
                <a:lnTo>
                  <a:pt x="8575260" y="0"/>
                </a:lnTo>
                <a:lnTo>
                  <a:pt x="8575260" y="5091561"/>
                </a:lnTo>
                <a:lnTo>
                  <a:pt x="0" y="5091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26878">
            <a:off x="-115147" y="3004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5091866" y="82973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8346276" y="621233"/>
            <a:ext cx="1595448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結論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8942" y="2029406"/>
            <a:ext cx="17930117" cy="7593024"/>
            <a:chOff x="0" y="0"/>
            <a:chExt cx="4722335" cy="19998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2335" cy="1999809"/>
            </a:xfrm>
            <a:custGeom>
              <a:avLst/>
              <a:gdLst/>
              <a:ahLst/>
              <a:cxnLst/>
              <a:rect l="l" t="t" r="r" b="b"/>
              <a:pathLst>
                <a:path w="4722335" h="1999809">
                  <a:moveTo>
                    <a:pt x="22021" y="0"/>
                  </a:moveTo>
                  <a:lnTo>
                    <a:pt x="4700315" y="0"/>
                  </a:lnTo>
                  <a:cubicBezTo>
                    <a:pt x="4706155" y="0"/>
                    <a:pt x="4711756" y="2320"/>
                    <a:pt x="4715886" y="6450"/>
                  </a:cubicBezTo>
                  <a:cubicBezTo>
                    <a:pt x="4720015" y="10580"/>
                    <a:pt x="4722335" y="16181"/>
                    <a:pt x="4722335" y="22021"/>
                  </a:cubicBezTo>
                  <a:lnTo>
                    <a:pt x="4722335" y="1977788"/>
                  </a:lnTo>
                  <a:cubicBezTo>
                    <a:pt x="4722335" y="1983628"/>
                    <a:pt x="4720015" y="1989229"/>
                    <a:pt x="4715886" y="1993359"/>
                  </a:cubicBezTo>
                  <a:cubicBezTo>
                    <a:pt x="4711756" y="1997489"/>
                    <a:pt x="4706155" y="1999809"/>
                    <a:pt x="4700315" y="1999809"/>
                  </a:cubicBezTo>
                  <a:lnTo>
                    <a:pt x="22021" y="1999809"/>
                  </a:lnTo>
                  <a:cubicBezTo>
                    <a:pt x="16181" y="1999809"/>
                    <a:pt x="10580" y="1997489"/>
                    <a:pt x="6450" y="1993359"/>
                  </a:cubicBezTo>
                  <a:cubicBezTo>
                    <a:pt x="2320" y="1989229"/>
                    <a:pt x="0" y="1983628"/>
                    <a:pt x="0" y="1977788"/>
                  </a:cubicBezTo>
                  <a:lnTo>
                    <a:pt x="0" y="22021"/>
                  </a:lnTo>
                  <a:cubicBezTo>
                    <a:pt x="0" y="16181"/>
                    <a:pt x="2320" y="10580"/>
                    <a:pt x="6450" y="6450"/>
                  </a:cubicBezTo>
                  <a:cubicBezTo>
                    <a:pt x="10580" y="2320"/>
                    <a:pt x="16181" y="0"/>
                    <a:pt x="22021" y="0"/>
                  </a:cubicBezTo>
                  <a:close/>
                </a:path>
              </a:pathLst>
            </a:custGeom>
            <a:solidFill>
              <a:srgbClr val="D9E3F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22335" cy="2047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14350" y="2472747"/>
            <a:ext cx="17259300" cy="668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53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此次研究的目的為製作出小說推薦系統。我們使用餘弦相似程度作為評斷依據，用Html搭配Flask架構編寫網頁，再以CSS美化，而最重要的資料庫則是以mySQL儲存。管理者可直接操作資料庫刪減、新增或更新書籍、作者、出版社、Tag等資料；使用者則可使用網頁查找資料庫、增刪資料，達成新增使用者、收藏與查找書籍的功能。</a:t>
            </a:r>
          </a:p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53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53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本系統在網頁搜尋使用、資料庫後台修改等功能已相當完善，但在推薦使用者書籍的方面尚有進步空間。餘弦相似度較適合使用人數較多的網頁，而我們的系統人流量不多，造成餘弦相似度的推薦準確率仍需加強。因此我們考慮在網頁使用人數較低時改成運用另一套演算法，等到使用者足夠時再改用餘弦相似度計算，以提升推薦準確率。</a:t>
            </a:r>
          </a:p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53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353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總體而言，此系統雖仍有進步空間，但基本搜尋功能與推薦以相當完善，達成我們最初「依使用者喜好推薦小說」的目的。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26878">
            <a:off x="-115147" y="3004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5091866" y="82973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548552" y="621233"/>
            <a:ext cx="319089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工作分配</a:t>
            </a:r>
          </a:p>
        </p:txBody>
      </p:sp>
      <p:graphicFrame>
        <p:nvGraphicFramePr>
          <p:cNvPr id="9" name="Object 9"/>
          <p:cNvGraphicFramePr/>
          <p:nvPr/>
        </p:nvGraphicFramePr>
        <p:xfrm>
          <a:off x="1524000" y="2492375"/>
          <a:ext cx="88011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10553700" imgH="5105400" progId="Excel.Sheet.12">
                  <p:embed/>
                </p:oleObj>
              </mc:Choice>
              <mc:Fallback>
                <p:oleObj name="Worksheet" r:id="rId10" imgW="10553700" imgH="5105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24000" y="2492375"/>
                        <a:ext cx="8801100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48347969-E1B8-EAB4-E2E9-81E462D4BC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9741" y="2401668"/>
            <a:ext cx="15388518" cy="650255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26878">
            <a:off x="-115147" y="3004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5091866" y="82973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7548552" y="621233"/>
            <a:ext cx="3190897" cy="96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25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參考資料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20523" y="3437289"/>
            <a:ext cx="16076417" cy="2098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4"/>
              </a:lnSpc>
            </a:pPr>
            <a:r>
              <a:rPr lang="en-US" sz="448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資料來源：</a:t>
            </a:r>
            <a:r>
              <a:rPr lang="en-US" sz="4489" b="1" u="sng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  <a:hlinkClick r:id="rId10" tooltip="https://mojoin.com/novels"/>
              </a:rPr>
              <a:t>https://mojoin.com/novels</a:t>
            </a:r>
          </a:p>
          <a:p>
            <a:pPr algn="l">
              <a:lnSpc>
                <a:spcPts val="5584"/>
              </a:lnSpc>
            </a:pPr>
            <a:endParaRPr lang="en-US" sz="4489" b="1" u="sng">
              <a:solidFill>
                <a:srgbClr val="31508E"/>
              </a:solidFill>
              <a:latin typeface="Red Hat Display Bold"/>
              <a:ea typeface="Red Hat Display Bold"/>
              <a:cs typeface="Red Hat Display Bold"/>
              <a:sym typeface="Red Hat Display Bold"/>
              <a:hlinkClick r:id="rId10" tooltip="https://mojoin.com/novels"/>
            </a:endParaRPr>
          </a:p>
          <a:p>
            <a:pPr algn="l">
              <a:lnSpc>
                <a:spcPts val="5584"/>
              </a:lnSpc>
            </a:pPr>
            <a:r>
              <a:rPr lang="en-US" sz="4489" b="1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演算法結構：</a:t>
            </a:r>
            <a:r>
              <a:rPr lang="en-US" sz="4489" b="1" u="sng">
                <a:solidFill>
                  <a:srgbClr val="31508E"/>
                </a:solidFill>
                <a:latin typeface="Red Hat Display Bold"/>
                <a:ea typeface="Red Hat Display Bold"/>
                <a:cs typeface="Red Hat Display Bold"/>
                <a:sym typeface="Red Hat Display Bold"/>
                <a:hlinkClick r:id="rId11" tooltip="https://zhuanlan.zhihu.com/p/489861857"/>
              </a:rPr>
              <a:t>https://zhuanlan.zhihu.com/p/489861857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226878">
            <a:off x="-115147" y="3004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5091866" y="82973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7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Freeform 7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TextBox 8"/>
          <p:cNvSpPr txBox="1"/>
          <p:nvPr/>
        </p:nvSpPr>
        <p:spPr>
          <a:xfrm>
            <a:off x="4951140" y="2970704"/>
            <a:ext cx="8385720" cy="507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6"/>
              </a:lnSpc>
            </a:pPr>
            <a:r>
              <a:rPr lang="en-US" sz="1621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報告結束</a:t>
            </a:r>
          </a:p>
          <a:p>
            <a:pPr algn="l">
              <a:lnSpc>
                <a:spcPts val="20176"/>
              </a:lnSpc>
            </a:pPr>
            <a:r>
              <a:rPr lang="en-US" sz="16218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謝謝大家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1076</Words>
  <Application>Microsoft Office PowerPoint</Application>
  <PresentationFormat>自訂</PresentationFormat>
  <Paragraphs>288</Paragraphs>
  <Slides>47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47</vt:i4>
      </vt:variant>
    </vt:vector>
  </HeadingPairs>
  <TitlesOfParts>
    <vt:vector size="54" baseType="lpstr">
      <vt:lpstr>Red Hat Display Bold</vt:lpstr>
      <vt:lpstr>Arial</vt:lpstr>
      <vt:lpstr>Calibri</vt:lpstr>
      <vt:lpstr>Red Hat Display</vt:lpstr>
      <vt:lpstr>Office Theme</vt:lpstr>
      <vt:lpstr>Worksheet</vt:lpstr>
      <vt:lpstr>Microsoft Excel 工作表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網路小說推薦系統</dc:title>
  <cp:lastModifiedBy>金庭聿</cp:lastModifiedBy>
  <cp:revision>2</cp:revision>
  <dcterms:created xsi:type="dcterms:W3CDTF">2006-08-16T00:00:00Z</dcterms:created>
  <dcterms:modified xsi:type="dcterms:W3CDTF">2025-06-01T17:23:11Z</dcterms:modified>
  <dc:identifier>DAGo7zJoBQ8</dc:identifier>
</cp:coreProperties>
</file>